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401479"/>
            <a:ext cx="2286000" cy="1140143"/>
          </a:xfrm>
          <a:prstGeom prst="roundRect">
            <a:avLst>
              <a:gd name="adj" fmla="val 6667"/>
            </a:avLst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5C3212D-FBE6-4836-80CE-DB365EE211E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781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050" b="1">
                <a:solidFill>
                  <a:srgbClr val="FFF7ED"/>
                </a:solidFill>
              </a:defRPr>
            </a:pPr>
            <a:r>
              <a:rPr sz="4050" b="1">
                <a:solidFill>
                  <a:srgbClr val="FFF7ED"/>
                </a:solidFill>
              </a:rPr>
              <a:t>Acceso Mina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C0FD0E-DDAD-40E9-BC49-5840093E3B48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8191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0">
                <a:solidFill>
                  <a:srgbClr val="FFF7ED"/>
                </a:solidFill>
              </a:defRPr>
            </a:pPr>
            <a:r>
              <a:rPr sz="2025" b="0">
                <a:solidFill>
                  <a:srgbClr val="FFF7ED"/>
                </a:solidFill>
              </a:rPr>
              <a:t>Control único y centralizado para empresas contratistas de minería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2599DA-50FF-46C2-895E-73F2033A409B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619250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ADD93E-D3E2-4CFA-AD44-3E9DA374CE5C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809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8BDF8"/>
                </a:solidFill>
              </a:defRPr>
            </a:pPr>
            <a:r>
              <a:rPr sz="1500" b="1">
                <a:solidFill>
                  <a:srgbClr val="38BDF8"/>
                </a:solidFill>
              </a:rPr>
              <a:t>Privacidad · Control · Trazabilidad · Comunicación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13EB757-FE21-4215-9B4F-7821166E72C7}"/>
              </a:ext>
            </a:extLst>
          </p:cNvPr>
          <p:cNvSpPr>
            <a:spLocks noGrp="1"/>
          </p:cNvSpPr>
          <p:nvPr/>
        </p:nvSpPr>
        <p:spPr>
          <a:xfrm>
            <a:off x="609600" y="6172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FF7ED"/>
                </a:solidFill>
              </a:defRPr>
            </a:pPr>
            <a:r>
              <a:rPr sz="1050" b="1">
                <a:solidFill>
                  <a:srgbClr val="FFF7ED"/>
                </a:solidFill>
              </a:rPr>
              <a:t>www.domian.cl</a:t>
            </a:r>
          </a:p>
        </p:txBody>
      </p:sp>
    </p:spTree>
    <p:extLst>
      <p:ext uri="{BB962C8B-B14F-4D97-AF65-F5344CB8AC3E}">
        <p14:creationId xmlns:p14="http://schemas.microsoft.com/office/powerpoint/2010/main" val="36961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9ACE3361-457B-4ED9-8365-7BFBA8782E2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PRIVACIDAD Y SEGURIDAD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28468F-F0F7-45A3-A8D3-118BB52E7DB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7ED"/>
                </a:solidFill>
              </a:defRPr>
            </a:pPr>
            <a:r>
              <a:rPr sz="2700" b="1">
                <a:solidFill>
                  <a:srgbClr val="FFF7ED"/>
                </a:solidFill>
              </a:rPr>
              <a:t>Su información permanece privada y bajo 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03DC120-5C1A-44AD-8C00-879B38AC2AF0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134FE9D-36D4-4C6A-A0A6-6B587C18DE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333750" cy="3333750"/>
          </a:xfrm>
          <a:prstGeom prst="roundRect">
            <a:avLst>
              <a:gd name="adj" fmla="val 2286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F61E8C5-35A0-444A-AA84-2E5831E3142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7150" cy="33337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CAEFE8D-F6E4-464B-BC1A-1BF7AD071D10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290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Sitio privado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54FC91-6715-4347-BD4E-67CCE676DE36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2905125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Cada cliente opera en un entorno exclusivo. La información no queda expuesta a terceros.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1DE059CD-1B6A-4F00-A7B9-1248F41C12DB}"/>
              </a:ext>
            </a:extLst>
          </p:cNvPr>
          <p:cNvSpPr>
            <a:spLocks noGrp="1"/>
          </p:cNvSpPr>
          <p:nvPr/>
        </p:nvSpPr>
        <p:spPr>
          <a:xfrm>
            <a:off x="4429125" y="1619250"/>
            <a:ext cx="3333750" cy="3333750"/>
          </a:xfrm>
          <a:prstGeom prst="roundRect">
            <a:avLst>
              <a:gd name="adj" fmla="val 2286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C0EDAE0-D471-48B3-BCCC-8CCDDCACA39D}"/>
              </a:ext>
            </a:extLst>
          </p:cNvPr>
          <p:cNvSpPr>
            <a:spLocks noGrp="1"/>
          </p:cNvSpPr>
          <p:nvPr/>
        </p:nvSpPr>
        <p:spPr>
          <a:xfrm>
            <a:off x="4429125" y="1619250"/>
            <a:ext cx="57150" cy="3333750"/>
          </a:xfrm>
          <a:prstGeom prst="rect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BB563B3-8E00-4117-8576-10C895F467D1}"/>
              </a:ext>
            </a:extLst>
          </p:cNvPr>
          <p:cNvSpPr>
            <a:spLocks noGrp="1"/>
          </p:cNvSpPr>
          <p:nvPr/>
        </p:nvSpPr>
        <p:spPr>
          <a:xfrm>
            <a:off x="4657725" y="1809750"/>
            <a:ext cx="290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Accesos autorizados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977E4E9-04DF-47C9-A008-2A27D23982A8}"/>
              </a:ext>
            </a:extLst>
          </p:cNvPr>
          <p:cNvSpPr>
            <a:spLocks noGrp="1"/>
          </p:cNvSpPr>
          <p:nvPr/>
        </p:nvSpPr>
        <p:spPr>
          <a:xfrm>
            <a:off x="4657725" y="2238375"/>
            <a:ext cx="2905125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Solo los usuarios definidos por la empresa pueden consultar, cargar o administrar datos.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49CA7ADD-438F-402D-86B8-336BD2E4B5D1}"/>
              </a:ext>
            </a:extLst>
          </p:cNvPr>
          <p:cNvSpPr>
            <a:spLocks noGrp="1"/>
          </p:cNvSpPr>
          <p:nvPr/>
        </p:nvSpPr>
        <p:spPr>
          <a:xfrm>
            <a:off x="8248650" y="1619250"/>
            <a:ext cx="3333750" cy="3333750"/>
          </a:xfrm>
          <a:prstGeom prst="roundRect">
            <a:avLst>
              <a:gd name="adj" fmla="val 2286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48D6622-FE83-47F3-A540-40C2A98BB612}"/>
              </a:ext>
            </a:extLst>
          </p:cNvPr>
          <p:cNvSpPr>
            <a:spLocks noGrp="1"/>
          </p:cNvSpPr>
          <p:nvPr/>
        </p:nvSpPr>
        <p:spPr>
          <a:xfrm>
            <a:off x="8248650" y="1619250"/>
            <a:ext cx="57150" cy="3333750"/>
          </a:xfrm>
          <a:prstGeom prst="rect">
            <a:avLst/>
          </a:prstGeom>
          <a:solidFill>
            <a:srgbClr val="22C55E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708AD59-7933-476C-B6B8-723802CC9E75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90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Control de la información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B7F78BD-E832-4D9B-A29F-115A685E7913}"/>
              </a:ext>
            </a:extLst>
          </p:cNvPr>
          <p:cNvSpPr>
            <a:spLocks noGrp="1"/>
          </p:cNvSpPr>
          <p:nvPr/>
        </p:nvSpPr>
        <p:spPr>
          <a:xfrm>
            <a:off x="8477250" y="2238375"/>
            <a:ext cx="2905125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Personas, contratos, documentos y respaldos permanecen centralizados y disponibles.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7BE44E7-4457-4A11-9F11-3FE901E1CA9F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El cliente mantiene visibilidad y control sobre su propia operación.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492E7A1-160E-4046-929F-18DE5265561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DOMIAN · SMART BUSINESS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F18E589-651E-480B-BCB3-0F674018D74A}"/>
              </a:ext>
            </a:extLst>
          </p:cNvPr>
          <p:cNvSpPr>
            <a:spLocks noGrp="1"/>
          </p:cNvSpPr>
          <p:nvPr/>
        </p:nvSpPr>
        <p:spPr>
          <a:xfrm>
            <a:off x="10858500" y="64960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510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F178E8C4-13DA-440B-B583-47E7BD2FB3A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VISIÓN EJECUTIVA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32EFF92-4C19-4298-B89B-78F4B76EF01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7ED"/>
                </a:solidFill>
              </a:defRPr>
            </a:pPr>
            <a:r>
              <a:rPr sz="2700" b="1">
                <a:solidFill>
                  <a:srgbClr val="FFF7ED"/>
                </a:solidFill>
              </a:rPr>
              <a:t>Dashboards para decidir antes de que exista un problema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56BDF4-62D1-4749-AA32-8A01B685E92D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808AB615-18B9-4698-B292-CB46017C7BC9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3371850" cy="1524000"/>
          </a:xfrm>
          <a:prstGeom prst="roundRect">
            <a:avLst>
              <a:gd name="adj" fmla="val 5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A13531A-3E94-4E66-961D-3B6A5888683B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57150" cy="1524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E92821-6F32-4EA1-BDBE-66C832415006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Dotación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EDE19E-C584-4130-8C61-5397989EDF25}"/>
              </a:ext>
            </a:extLst>
          </p:cNvPr>
          <p:cNvSpPr>
            <a:spLocks noGrp="1"/>
          </p:cNvSpPr>
          <p:nvPr/>
        </p:nvSpPr>
        <p:spPr>
          <a:xfrm>
            <a:off x="838200" y="2181225"/>
            <a:ext cx="2943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Personal planta y spot por servicio.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206FB8D6-FBAE-4708-8B67-4D58E4E88CAB}"/>
              </a:ext>
            </a:extLst>
          </p:cNvPr>
          <p:cNvSpPr>
            <a:spLocks noGrp="1"/>
          </p:cNvSpPr>
          <p:nvPr/>
        </p:nvSpPr>
        <p:spPr>
          <a:xfrm>
            <a:off x="4267200" y="1562100"/>
            <a:ext cx="3371850" cy="1524000"/>
          </a:xfrm>
          <a:prstGeom prst="roundRect">
            <a:avLst>
              <a:gd name="adj" fmla="val 5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22666E9-FC8D-4F9A-A51F-EAA9C6AE24B9}"/>
              </a:ext>
            </a:extLst>
          </p:cNvPr>
          <p:cNvSpPr>
            <a:spLocks noGrp="1"/>
          </p:cNvSpPr>
          <p:nvPr/>
        </p:nvSpPr>
        <p:spPr>
          <a:xfrm>
            <a:off x="4267200" y="1562100"/>
            <a:ext cx="57150" cy="1524000"/>
          </a:xfrm>
          <a:prstGeom prst="rect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B4ADCFF-2D3E-49B7-B82D-C44A8B48B8CC}"/>
              </a:ext>
            </a:extLst>
          </p:cNvPr>
          <p:cNvSpPr>
            <a:spLocks noGrp="1"/>
          </p:cNvSpPr>
          <p:nvPr/>
        </p:nvSpPr>
        <p:spPr>
          <a:xfrm>
            <a:off x="4495800" y="1752600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Vencimientos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CA1159-7DBD-4DFF-B16A-6758F3B02C6C}"/>
              </a:ext>
            </a:extLst>
          </p:cNvPr>
          <p:cNvSpPr>
            <a:spLocks noGrp="1"/>
          </p:cNvSpPr>
          <p:nvPr/>
        </p:nvSpPr>
        <p:spPr>
          <a:xfrm>
            <a:off x="4495800" y="2181225"/>
            <a:ext cx="2943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Contratos, documentos, cursos y exámenes.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84778A76-CB28-44A6-B277-56EFD5C3365B}"/>
              </a:ext>
            </a:extLst>
          </p:cNvPr>
          <p:cNvSpPr>
            <a:spLocks noGrp="1"/>
          </p:cNvSpPr>
          <p:nvPr/>
        </p:nvSpPr>
        <p:spPr>
          <a:xfrm>
            <a:off x="7924800" y="1562100"/>
            <a:ext cx="3371850" cy="1524000"/>
          </a:xfrm>
          <a:prstGeom prst="roundRect">
            <a:avLst>
              <a:gd name="adj" fmla="val 5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D193651-04DB-4D11-9E12-F114EEF4C448}"/>
              </a:ext>
            </a:extLst>
          </p:cNvPr>
          <p:cNvSpPr>
            <a:spLocks noGrp="1"/>
          </p:cNvSpPr>
          <p:nvPr/>
        </p:nvSpPr>
        <p:spPr>
          <a:xfrm>
            <a:off x="7924800" y="1562100"/>
            <a:ext cx="57150" cy="1524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DF31943-46CA-40D7-8D3F-237A78DE1F64}"/>
              </a:ext>
            </a:extLst>
          </p:cNvPr>
          <p:cNvSpPr>
            <a:spLocks noGrp="1"/>
          </p:cNvSpPr>
          <p:nvPr/>
        </p:nvSpPr>
        <p:spPr>
          <a:xfrm>
            <a:off x="8153400" y="1752600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Acreditación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6233DAE-7CB7-4F18-87D4-F73F8F7162EE}"/>
              </a:ext>
            </a:extLst>
          </p:cNvPr>
          <p:cNvSpPr>
            <a:spLocks noGrp="1"/>
          </p:cNvSpPr>
          <p:nvPr/>
        </p:nvSpPr>
        <p:spPr>
          <a:xfrm>
            <a:off x="8153400" y="2181225"/>
            <a:ext cx="2943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Pendiente, observado, rechazado o aprobado.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410E6FF4-1225-4664-92D2-60CEB04B54FD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3371850" cy="1524000"/>
          </a:xfrm>
          <a:prstGeom prst="roundRect">
            <a:avLst>
              <a:gd name="adj" fmla="val 5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C608769-44F8-4464-8006-AD78E109BE43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57150" cy="1524000"/>
          </a:xfrm>
          <a:prstGeom prst="rect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F150595-EBC4-4BEC-BF0B-F3C146626B13}"/>
              </a:ext>
            </a:extLst>
          </p:cNvPr>
          <p:cNvSpPr>
            <a:spLocks noGrp="1"/>
          </p:cNvSpPr>
          <p:nvPr/>
        </p:nvSpPr>
        <p:spPr>
          <a:xfrm>
            <a:off x="838200" y="3619500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Operación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4EFBEC9-46E2-4E9D-8A1B-95407FF54767}"/>
              </a:ext>
            </a:extLst>
          </p:cNvPr>
          <p:cNvSpPr>
            <a:spLocks noGrp="1"/>
          </p:cNvSpPr>
          <p:nvPr/>
        </p:nvSpPr>
        <p:spPr>
          <a:xfrm>
            <a:off x="838200" y="4048125"/>
            <a:ext cx="2943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Proyectos, mantenciones, turnos y permisos.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F0208DE4-7A14-4F56-B4BF-5A6552533F89}"/>
              </a:ext>
            </a:extLst>
          </p:cNvPr>
          <p:cNvSpPr>
            <a:spLocks noGrp="1"/>
          </p:cNvSpPr>
          <p:nvPr/>
        </p:nvSpPr>
        <p:spPr>
          <a:xfrm>
            <a:off x="4267200" y="3429000"/>
            <a:ext cx="3371850" cy="1524000"/>
          </a:xfrm>
          <a:prstGeom prst="roundRect">
            <a:avLst>
              <a:gd name="adj" fmla="val 5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1016359-BA54-4430-AC66-5B42AAA458F9}"/>
              </a:ext>
            </a:extLst>
          </p:cNvPr>
          <p:cNvSpPr>
            <a:spLocks noGrp="1"/>
          </p:cNvSpPr>
          <p:nvPr/>
        </p:nvSpPr>
        <p:spPr>
          <a:xfrm>
            <a:off x="4267200" y="3429000"/>
            <a:ext cx="57150" cy="1524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170C247-51FD-418D-8D14-27A20A181C19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Recursos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1211697-74F5-453D-8E47-1D39DCCB0064}"/>
              </a:ext>
            </a:extLst>
          </p:cNvPr>
          <p:cNvSpPr>
            <a:spLocks noGrp="1"/>
          </p:cNvSpPr>
          <p:nvPr/>
        </p:nvSpPr>
        <p:spPr>
          <a:xfrm>
            <a:off x="4495800" y="4048125"/>
            <a:ext cx="2943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Vehículos, equipos, hotelería y pases.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74BC24C0-2EC1-4182-92A9-6940C038EDAB}"/>
              </a:ext>
            </a:extLst>
          </p:cNvPr>
          <p:cNvSpPr>
            <a:spLocks noGrp="1"/>
          </p:cNvSpPr>
          <p:nvPr/>
        </p:nvSpPr>
        <p:spPr>
          <a:xfrm>
            <a:off x="7924800" y="3429000"/>
            <a:ext cx="3371850" cy="1524000"/>
          </a:xfrm>
          <a:prstGeom prst="roundRect">
            <a:avLst>
              <a:gd name="adj" fmla="val 5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9F2D793-93C1-49C1-89B1-D99CB707D854}"/>
              </a:ext>
            </a:extLst>
          </p:cNvPr>
          <p:cNvSpPr>
            <a:spLocks noGrp="1"/>
          </p:cNvSpPr>
          <p:nvPr/>
        </p:nvSpPr>
        <p:spPr>
          <a:xfrm>
            <a:off x="7924800" y="3429000"/>
            <a:ext cx="57150" cy="1524000"/>
          </a:xfrm>
          <a:prstGeom prst="rect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5975C40-484E-45A0-AEC6-079BB9990383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Alertas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94CB4D2-F225-4250-B421-30AE14F3F3F0}"/>
              </a:ext>
            </a:extLst>
          </p:cNvPr>
          <p:cNvSpPr>
            <a:spLocks noGrp="1"/>
          </p:cNvSpPr>
          <p:nvPr/>
        </p:nvSpPr>
        <p:spPr>
          <a:xfrm>
            <a:off x="8153400" y="4048125"/>
            <a:ext cx="2943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Faltantes y riesgos que requieren acción.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98A7CDD-F221-4574-96CB-68AEC5351A3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DOMIAN · SMART BUSINESS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780131B-122C-492D-B204-49FBF1FA6DC4}"/>
              </a:ext>
            </a:extLst>
          </p:cNvPr>
          <p:cNvSpPr>
            <a:spLocks noGrp="1"/>
          </p:cNvSpPr>
          <p:nvPr/>
        </p:nvSpPr>
        <p:spPr>
          <a:xfrm>
            <a:off x="10858500" y="64960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905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7AE3324-429C-4740-91D9-F0CD6754BE8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FÁCIL DE TRABAJAR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AAC274C-8E84-4DBC-A346-544EFCF80DE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7ED"/>
                </a:solidFill>
              </a:defRPr>
            </a:pPr>
            <a:r>
              <a:rPr sz="2700" b="1">
                <a:solidFill>
                  <a:srgbClr val="FFF7ED"/>
                </a:solidFill>
              </a:rPr>
              <a:t>Una interfaz simple para una operación compleja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B199CD-DE1E-4FB4-A746-8D48B134196E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66AD291-DFA1-4014-91DA-0031392E3ABF}"/>
              </a:ext>
            </a:extLst>
          </p:cNvPr>
          <p:cNvSpPr>
            <a:spLocks noGrp="1"/>
          </p:cNvSpPr>
          <p:nvPr/>
        </p:nvSpPr>
        <p:spPr>
          <a:xfrm>
            <a:off x="7953375" y="15811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7ED"/>
                </a:solidFill>
              </a:defRPr>
            </a:pPr>
            <a:r>
              <a:rPr sz="1875" b="1">
                <a:solidFill>
                  <a:srgbClr val="FFF7ED"/>
                </a:solidFill>
              </a:rPr>
              <a:t>Así se ve Acceso Mina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AF33B2DE-1599-4C35-845A-C0A138EA1523}"/>
              </a:ext>
            </a:extLst>
          </p:cNvPr>
          <p:cNvSpPr>
            <a:spLocks noGrp="1"/>
          </p:cNvSpPr>
          <p:nvPr/>
        </p:nvSpPr>
        <p:spPr>
          <a:xfrm>
            <a:off x="7953375" y="2238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DFEBAA7-8990-4D74-855D-DCF1319D6728}"/>
              </a:ext>
            </a:extLst>
          </p:cNvPr>
          <p:cNvSpPr>
            <a:spLocks noGrp="1"/>
          </p:cNvSpPr>
          <p:nvPr/>
        </p:nvSpPr>
        <p:spPr>
          <a:xfrm>
            <a:off x="8181975" y="2152650"/>
            <a:ext cx="3057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Formularios claros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EA075B8-5E8C-4617-B841-9F9CEAA8C062}"/>
              </a:ext>
            </a:extLst>
          </p:cNvPr>
          <p:cNvSpPr>
            <a:spLocks noGrp="1"/>
          </p:cNvSpPr>
          <p:nvPr/>
        </p:nvSpPr>
        <p:spPr>
          <a:xfrm>
            <a:off x="8181975" y="2476500"/>
            <a:ext cx="30575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Campos guiados y listas de selección reducen errores.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7C10C6E6-04A6-4792-A536-97908E413D5B}"/>
              </a:ext>
            </a:extLst>
          </p:cNvPr>
          <p:cNvSpPr>
            <a:spLocks noGrp="1"/>
          </p:cNvSpPr>
          <p:nvPr/>
        </p:nvSpPr>
        <p:spPr>
          <a:xfrm>
            <a:off x="7953375" y="3343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95B91F-DEE3-4849-B066-11045426CC3D}"/>
              </a:ext>
            </a:extLst>
          </p:cNvPr>
          <p:cNvSpPr>
            <a:spLocks noGrp="1"/>
          </p:cNvSpPr>
          <p:nvPr/>
        </p:nvSpPr>
        <p:spPr>
          <a:xfrm>
            <a:off x="8181975" y="3257550"/>
            <a:ext cx="3057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Datos conectados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4CFEAA7-D05C-4F84-A062-C44A1BB3B63E}"/>
              </a:ext>
            </a:extLst>
          </p:cNvPr>
          <p:cNvSpPr>
            <a:spLocks noGrp="1"/>
          </p:cNvSpPr>
          <p:nvPr/>
        </p:nvSpPr>
        <p:spPr>
          <a:xfrm>
            <a:off x="8181975" y="3581400"/>
            <a:ext cx="30575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Un registro alimenta asignaciones, alertas y reportes.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6AA29FF6-F7B4-4FE0-AA5C-7BFB226EC589}"/>
              </a:ext>
            </a:extLst>
          </p:cNvPr>
          <p:cNvSpPr>
            <a:spLocks noGrp="1"/>
          </p:cNvSpPr>
          <p:nvPr/>
        </p:nvSpPr>
        <p:spPr>
          <a:xfrm>
            <a:off x="7953375" y="4448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DDA44E6-E9F4-4075-9B38-C585ABF48359}"/>
              </a:ext>
            </a:extLst>
          </p:cNvPr>
          <p:cNvSpPr>
            <a:spLocks noGrp="1"/>
          </p:cNvSpPr>
          <p:nvPr/>
        </p:nvSpPr>
        <p:spPr>
          <a:xfrm>
            <a:off x="8181975" y="4362450"/>
            <a:ext cx="3057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Uso cotidiano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92192E5-5295-4B56-92A5-CF9ABAA6CA6A}"/>
              </a:ext>
            </a:extLst>
          </p:cNvPr>
          <p:cNvSpPr>
            <a:spLocks noGrp="1"/>
          </p:cNvSpPr>
          <p:nvPr/>
        </p:nvSpPr>
        <p:spPr>
          <a:xfrm>
            <a:off x="8181975" y="4686300"/>
            <a:ext cx="30575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Pensado para trabajar rápido sin conocimientos técnicos.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CE6E2CA-6AA2-4F75-97BE-37A4DCA2066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DOMIAN · SMART BUSINESS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C87BD02-0CF3-4489-A326-7BD5ABC9EA89}"/>
              </a:ext>
            </a:extLst>
          </p:cNvPr>
          <p:cNvSpPr>
            <a:spLocks noGrp="1"/>
          </p:cNvSpPr>
          <p:nvPr/>
        </p:nvSpPr>
        <p:spPr>
          <a:xfrm>
            <a:off x="10858500" y="64960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04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9D4ACE1-B18C-79B4-D642-30D427938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1" y="1479224"/>
            <a:ext cx="6603873" cy="420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4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ACD8012A-1D71-4A4A-BF3B-71356FFEA4F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CONTROL DE PERSONAS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5C46125-7E94-49FB-BAEE-C7CCEE28CB6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7ED"/>
                </a:solidFill>
              </a:defRPr>
            </a:pPr>
            <a:r>
              <a:rPr sz="2700" b="1">
                <a:solidFill>
                  <a:srgbClr val="FFF7ED"/>
                </a:solidFill>
              </a:rPr>
              <a:t>Toda la información del trabajador en una ficha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31D7B75-232A-4F97-A9CC-BC0E1C5B30A3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8D2F1C05-71CF-430F-B6BF-1A7391CD5ADB}"/>
              </a:ext>
            </a:extLst>
          </p:cNvPr>
          <p:cNvSpPr>
            <a:spLocks noGrp="1"/>
          </p:cNvSpPr>
          <p:nvPr/>
        </p:nvSpPr>
        <p:spPr>
          <a:xfrm>
            <a:off x="762000" y="1647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F759AB-DCEC-46A3-A143-ABBEF4C7E8C0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501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Identificación y relación laboral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4D4CEF8-29D1-45D9-8F46-8F9A5E5FFF52}"/>
              </a:ext>
            </a:extLst>
          </p:cNvPr>
          <p:cNvSpPr>
            <a:spLocks noGrp="1"/>
          </p:cNvSpPr>
          <p:nvPr/>
        </p:nvSpPr>
        <p:spPr>
          <a:xfrm>
            <a:off x="990600" y="1885950"/>
            <a:ext cx="501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Datos personales, contacto, cargo, contrato y tipo de dotación.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F1216CBA-A9CB-496C-A1B2-5294AAB341AF}"/>
              </a:ext>
            </a:extLst>
          </p:cNvPr>
          <p:cNvSpPr>
            <a:spLocks noGrp="1"/>
          </p:cNvSpPr>
          <p:nvPr/>
        </p:nvSpPr>
        <p:spPr>
          <a:xfrm>
            <a:off x="762000" y="2657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2E59BF-ECDB-4555-99F7-83ED431A38BA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501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Documentación de ingreso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32BCD0-7148-460E-BC0A-E88310F939EA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501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Contrato, anexos, exámenes, cursos, inducciones, credenciales y pases.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A1A278BF-7D35-42A8-A4EC-1EB7B3700426}"/>
              </a:ext>
            </a:extLst>
          </p:cNvPr>
          <p:cNvSpPr>
            <a:spLocks noGrp="1"/>
          </p:cNvSpPr>
          <p:nvPr/>
        </p:nvSpPr>
        <p:spPr>
          <a:xfrm>
            <a:off x="762000" y="36671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BCAE6B-B297-4902-91E8-2A71169BD086}"/>
              </a:ext>
            </a:extLst>
          </p:cNvPr>
          <p:cNvSpPr>
            <a:spLocks noGrp="1"/>
          </p:cNvSpPr>
          <p:nvPr/>
        </p:nvSpPr>
        <p:spPr>
          <a:xfrm>
            <a:off x="990600" y="3581400"/>
            <a:ext cx="501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Asignación operacional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A6FECE-1DFA-4A66-AE8D-65B8C15142C2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501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Minera, proyecto, mantención, turno, alojamiento y responsable.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9096F083-4F74-4021-B5B7-E34077FA3080}"/>
              </a:ext>
            </a:extLst>
          </p:cNvPr>
          <p:cNvSpPr>
            <a:spLocks noGrp="1"/>
          </p:cNvSpPr>
          <p:nvPr/>
        </p:nvSpPr>
        <p:spPr>
          <a:xfrm>
            <a:off x="762000" y="4676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27615F4-C919-41AD-AC89-DA885FE1332C}"/>
              </a:ext>
            </a:extLst>
          </p:cNvPr>
          <p:cNvSpPr>
            <a:spLocks noGrp="1"/>
          </p:cNvSpPr>
          <p:nvPr/>
        </p:nvSpPr>
        <p:spPr>
          <a:xfrm>
            <a:off x="990600" y="4591050"/>
            <a:ext cx="501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Historial y vigencia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875ED6E-5023-426E-B0F6-F471ADCFC29A}"/>
              </a:ext>
            </a:extLst>
          </p:cNvPr>
          <p:cNvSpPr>
            <a:spLocks noGrp="1"/>
          </p:cNvSpPr>
          <p:nvPr/>
        </p:nvSpPr>
        <p:spPr>
          <a:xfrm>
            <a:off x="990600" y="4914900"/>
            <a:ext cx="501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Documentos cargados desde PC o nube, estados y alertas de vencimiento.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42FD6D-5E39-45E6-BC39-85607F33824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DOMIAN · SMART BUSINESS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4194E5C-377F-477A-B407-03A3CE66138A}"/>
              </a:ext>
            </a:extLst>
          </p:cNvPr>
          <p:cNvSpPr>
            <a:spLocks noGrp="1"/>
          </p:cNvSpPr>
          <p:nvPr/>
        </p:nvSpPr>
        <p:spPr>
          <a:xfrm>
            <a:off x="10858500" y="64960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05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1A8EE22-0FCC-9455-7E94-74F9CDE23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646" y="1442863"/>
            <a:ext cx="5873633" cy="46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16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781E5704-11CE-444E-AFFE-01C6E2E544C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CONTROL DE SERVICIOS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6795D93-9EA8-4559-BEAE-692384E05CE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7ED"/>
                </a:solidFill>
              </a:defRPr>
            </a:pPr>
            <a:r>
              <a:rPr sz="2700" b="1">
                <a:solidFill>
                  <a:srgbClr val="FFF7ED"/>
                </a:solidFill>
              </a:rPr>
              <a:t>Proyectos y mantenciones con dotación controlada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DE8D0DE-AC97-490B-BC74-04DCE254C2B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5B8A0185-5EB4-4367-8688-B783BABF8C2F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3333750" cy="3429000"/>
          </a:xfrm>
          <a:prstGeom prst="roundRect">
            <a:avLst>
              <a:gd name="adj" fmla="val 2286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53417CB-BB1E-4FCB-A551-208C5E1CBBE3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57150" cy="3429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162E60-CB09-4125-84A8-72D676DA3733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290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Proyecto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C3AEF9D-540A-4AC1-B576-5F03A1C6A1EF}"/>
              </a:ext>
            </a:extLst>
          </p:cNvPr>
          <p:cNvSpPr>
            <a:spLocks noGrp="1"/>
          </p:cNvSpPr>
          <p:nvPr/>
        </p:nvSpPr>
        <p:spPr>
          <a:xfrm>
            <a:off x="838200" y="2181225"/>
            <a:ext cx="2905125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Mandante, contrato, alcance, responsables, fechas, estado y personal asignado.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90FFA927-5D20-4BEE-B68B-F17DA2C20A80}"/>
              </a:ext>
            </a:extLst>
          </p:cNvPr>
          <p:cNvSpPr>
            <a:spLocks noGrp="1"/>
          </p:cNvSpPr>
          <p:nvPr/>
        </p:nvSpPr>
        <p:spPr>
          <a:xfrm>
            <a:off x="4429125" y="1562100"/>
            <a:ext cx="3333750" cy="3429000"/>
          </a:xfrm>
          <a:prstGeom prst="roundRect">
            <a:avLst>
              <a:gd name="adj" fmla="val 2286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C102010-7864-4B08-AA4C-C50004E17F1E}"/>
              </a:ext>
            </a:extLst>
          </p:cNvPr>
          <p:cNvSpPr>
            <a:spLocks noGrp="1"/>
          </p:cNvSpPr>
          <p:nvPr/>
        </p:nvSpPr>
        <p:spPr>
          <a:xfrm>
            <a:off x="4429125" y="1562100"/>
            <a:ext cx="57150" cy="3429000"/>
          </a:xfrm>
          <a:prstGeom prst="rect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7A6C686-7E18-49FE-AAC5-017431667675}"/>
              </a:ext>
            </a:extLst>
          </p:cNvPr>
          <p:cNvSpPr>
            <a:spLocks noGrp="1"/>
          </p:cNvSpPr>
          <p:nvPr/>
        </p:nvSpPr>
        <p:spPr>
          <a:xfrm>
            <a:off x="4657725" y="1752600"/>
            <a:ext cx="290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Mantención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2F7E845-9F71-4B37-A1BA-45205646BDD6}"/>
              </a:ext>
            </a:extLst>
          </p:cNvPr>
          <p:cNvSpPr>
            <a:spLocks noGrp="1"/>
          </p:cNvSpPr>
          <p:nvPr/>
        </p:nvSpPr>
        <p:spPr>
          <a:xfrm>
            <a:off x="4657725" y="2181225"/>
            <a:ext cx="2905125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Solicitud, ubicación, especialidad, turno, permisos, recursos y personal spot.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C2CFA467-0F27-4589-849B-B45BA3686FF3}"/>
              </a:ext>
            </a:extLst>
          </p:cNvPr>
          <p:cNvSpPr>
            <a:spLocks noGrp="1"/>
          </p:cNvSpPr>
          <p:nvPr/>
        </p:nvSpPr>
        <p:spPr>
          <a:xfrm>
            <a:off x="8248650" y="1562100"/>
            <a:ext cx="3333750" cy="3429000"/>
          </a:xfrm>
          <a:prstGeom prst="roundRect">
            <a:avLst>
              <a:gd name="adj" fmla="val 2286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75E9C2F-F330-44B4-B7B1-F5C9D96A260C}"/>
              </a:ext>
            </a:extLst>
          </p:cNvPr>
          <p:cNvSpPr>
            <a:spLocks noGrp="1"/>
          </p:cNvSpPr>
          <p:nvPr/>
        </p:nvSpPr>
        <p:spPr>
          <a:xfrm>
            <a:off x="8248650" y="1562100"/>
            <a:ext cx="57150" cy="3429000"/>
          </a:xfrm>
          <a:prstGeom prst="rect">
            <a:avLst/>
          </a:prstGeom>
          <a:solidFill>
            <a:srgbClr val="22C55E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FEDFE53-DB2A-4797-8F06-729DB078F178}"/>
              </a:ext>
            </a:extLst>
          </p:cNvPr>
          <p:cNvSpPr>
            <a:spLocks noGrp="1"/>
          </p:cNvSpPr>
          <p:nvPr/>
        </p:nvSpPr>
        <p:spPr>
          <a:xfrm>
            <a:off x="8477250" y="1752600"/>
            <a:ext cx="290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Dotación dinámica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804F978-603B-4C04-BD0D-195FDC93AF16}"/>
              </a:ext>
            </a:extLst>
          </p:cNvPr>
          <p:cNvSpPr>
            <a:spLocks noGrp="1"/>
          </p:cNvSpPr>
          <p:nvPr/>
        </p:nvSpPr>
        <p:spPr>
          <a:xfrm>
            <a:off x="8477250" y="2181225"/>
            <a:ext cx="2905125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Agregar nuevos trabajadores, dar de baja o reasignar sin perder el historial.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05EAF41-5427-440E-955E-0C72E8C8B846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Cada persona queda relacionada con el trabajo exacto que realizará.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424CD6D-EEBE-4279-B052-B168031A802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DOMIAN · SMART BUSINESS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DA0F5A3-270F-4B82-AE4D-F7D857F9E365}"/>
              </a:ext>
            </a:extLst>
          </p:cNvPr>
          <p:cNvSpPr>
            <a:spLocks noGrp="1"/>
          </p:cNvSpPr>
          <p:nvPr/>
        </p:nvSpPr>
        <p:spPr>
          <a:xfrm>
            <a:off x="10858500" y="64960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731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CC3A3750-775A-42E7-976B-0EA825646FD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AUDITORÍA Y CUMPLIMIENTO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A038B07-EF21-4A23-A70B-B37B94DF35D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7ED"/>
                </a:solidFill>
              </a:defRPr>
            </a:pPr>
            <a:r>
              <a:rPr sz="2700" b="1">
                <a:solidFill>
                  <a:srgbClr val="FFF7ED"/>
                </a:solidFill>
              </a:rPr>
              <a:t>Cada dato y documento deja trazabilidad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74638-F8A0-48D4-B0FB-6E3EBB2808C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D77F9504-A7BB-4B31-BBF8-1F00E4607161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905000" cy="2286000"/>
          </a:xfrm>
          <a:prstGeom prst="roundRect">
            <a:avLst>
              <a:gd name="adj" fmla="val 4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EEAEF7-E711-4EE1-95D0-EC5C835D4A94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81784CD-4EC0-4325-9FC0-ED9B2AA09245}"/>
              </a:ext>
            </a:extLst>
          </p:cNvPr>
          <p:cNvSpPr>
            <a:spLocks noGrp="1"/>
          </p:cNvSpPr>
          <p:nvPr/>
        </p:nvSpPr>
        <p:spPr>
          <a:xfrm>
            <a:off x="800100" y="28003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Cargado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715D21C-5620-4293-B989-360A320D968A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Documento incorporado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1D23ED26-CF67-4C1D-BC35-A44EA3C704A2}"/>
              </a:ext>
            </a:extLst>
          </p:cNvPr>
          <p:cNvSpPr>
            <a:spLocks noGrp="1"/>
          </p:cNvSpPr>
          <p:nvPr/>
        </p:nvSpPr>
        <p:spPr>
          <a:xfrm>
            <a:off x="2819400" y="2000250"/>
            <a:ext cx="1905000" cy="2286000"/>
          </a:xfrm>
          <a:prstGeom prst="roundRect">
            <a:avLst>
              <a:gd name="adj" fmla="val 4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18E3F3-44A5-4A53-B74E-E7BB51110716}"/>
              </a:ext>
            </a:extLst>
          </p:cNvPr>
          <p:cNvSpPr>
            <a:spLocks noGrp="1"/>
          </p:cNvSpPr>
          <p:nvPr/>
        </p:nvSpPr>
        <p:spPr>
          <a:xfrm>
            <a:off x="3009900" y="22098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E88632-9242-40D6-BB2C-791CEC7960D6}"/>
              </a:ext>
            </a:extLst>
          </p:cNvPr>
          <p:cNvSpPr>
            <a:spLocks noGrp="1"/>
          </p:cNvSpPr>
          <p:nvPr/>
        </p:nvSpPr>
        <p:spPr>
          <a:xfrm>
            <a:off x="3009900" y="28003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Revisado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F8E9A8-D388-4590-9C79-AD3C675D6C69}"/>
              </a:ext>
            </a:extLst>
          </p:cNvPr>
          <p:cNvSpPr>
            <a:spLocks noGrp="1"/>
          </p:cNvSpPr>
          <p:nvPr/>
        </p:nvSpPr>
        <p:spPr>
          <a:xfrm>
            <a:off x="3009900" y="321945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Datos y vigencia validados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458A71B0-9148-447F-A6C2-382FB430A1E0}"/>
              </a:ext>
            </a:extLst>
          </p:cNvPr>
          <p:cNvSpPr>
            <a:spLocks noGrp="1"/>
          </p:cNvSpPr>
          <p:nvPr/>
        </p:nvSpPr>
        <p:spPr>
          <a:xfrm>
            <a:off x="5029200" y="2000250"/>
            <a:ext cx="1905000" cy="2286000"/>
          </a:xfrm>
          <a:prstGeom prst="roundRect">
            <a:avLst>
              <a:gd name="adj" fmla="val 4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554AC50-DF6E-4D25-8845-70F00417F00F}"/>
              </a:ext>
            </a:extLst>
          </p:cNvPr>
          <p:cNvSpPr>
            <a:spLocks noGrp="1"/>
          </p:cNvSpPr>
          <p:nvPr/>
        </p:nvSpPr>
        <p:spPr>
          <a:xfrm>
            <a:off x="5219700" y="22098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BA9EE6E-60A9-40DD-9A27-217F0DCC417F}"/>
              </a:ext>
            </a:extLst>
          </p:cNvPr>
          <p:cNvSpPr>
            <a:spLocks noGrp="1"/>
          </p:cNvSpPr>
          <p:nvPr/>
        </p:nvSpPr>
        <p:spPr>
          <a:xfrm>
            <a:off x="5219700" y="28003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Observado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C32C384-A0FE-450A-B154-006F0BC8DA71}"/>
              </a:ext>
            </a:extLst>
          </p:cNvPr>
          <p:cNvSpPr>
            <a:spLocks noGrp="1"/>
          </p:cNvSpPr>
          <p:nvPr/>
        </p:nvSpPr>
        <p:spPr>
          <a:xfrm>
            <a:off x="5219700" y="321945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Faltante o inconsistencia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329B6EA8-8493-4123-8756-A153A7EA01D9}"/>
              </a:ext>
            </a:extLst>
          </p:cNvPr>
          <p:cNvSpPr>
            <a:spLocks noGrp="1"/>
          </p:cNvSpPr>
          <p:nvPr/>
        </p:nvSpPr>
        <p:spPr>
          <a:xfrm>
            <a:off x="7239000" y="2000250"/>
            <a:ext cx="1905000" cy="2286000"/>
          </a:xfrm>
          <a:prstGeom prst="roundRect">
            <a:avLst>
              <a:gd name="adj" fmla="val 4000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9C03178-31D5-400E-B6EE-88C4C9C50FF6}"/>
              </a:ext>
            </a:extLst>
          </p:cNvPr>
          <p:cNvSpPr>
            <a:spLocks noGrp="1"/>
          </p:cNvSpPr>
          <p:nvPr/>
        </p:nvSpPr>
        <p:spPr>
          <a:xfrm>
            <a:off x="7429500" y="22098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686F4AC-FAD6-4B16-9B5A-DEF9A2EA449E}"/>
              </a:ext>
            </a:extLst>
          </p:cNvPr>
          <p:cNvSpPr>
            <a:spLocks noGrp="1"/>
          </p:cNvSpPr>
          <p:nvPr/>
        </p:nvSpPr>
        <p:spPr>
          <a:xfrm>
            <a:off x="7429500" y="28003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Corregido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07EC1C6-A095-4C53-B3E0-1A5417E21221}"/>
              </a:ext>
            </a:extLst>
          </p:cNvPr>
          <p:cNvSpPr>
            <a:spLocks noGrp="1"/>
          </p:cNvSpPr>
          <p:nvPr/>
        </p:nvSpPr>
        <p:spPr>
          <a:xfrm>
            <a:off x="7429500" y="321945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Nueva versión registrada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3800EA26-EE97-426F-9565-35677B0096E6}"/>
              </a:ext>
            </a:extLst>
          </p:cNvPr>
          <p:cNvSpPr>
            <a:spLocks noGrp="1"/>
          </p:cNvSpPr>
          <p:nvPr/>
        </p:nvSpPr>
        <p:spPr>
          <a:xfrm>
            <a:off x="9448800" y="2000250"/>
            <a:ext cx="1905000" cy="2286000"/>
          </a:xfrm>
          <a:prstGeom prst="roundRect">
            <a:avLst>
              <a:gd name="adj" fmla="val 4000"/>
            </a:avLst>
          </a:prstGeom>
          <a:solidFill>
            <a:srgbClr val="202024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8525638-FF6F-4328-89F9-6DE1EB25603C}"/>
              </a:ext>
            </a:extLst>
          </p:cNvPr>
          <p:cNvSpPr>
            <a:spLocks noGrp="1"/>
          </p:cNvSpPr>
          <p:nvPr/>
        </p:nvSpPr>
        <p:spPr>
          <a:xfrm>
            <a:off x="9639300" y="22098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2C55E"/>
                </a:solidFill>
              </a:defRPr>
            </a:pPr>
            <a:r>
              <a:rPr sz="1875" b="1">
                <a:solidFill>
                  <a:srgbClr val="22C55E"/>
                </a:solidFill>
              </a:rPr>
              <a:t>05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65F58ED-9444-4FF4-9639-C35597C9CC85}"/>
              </a:ext>
            </a:extLst>
          </p:cNvPr>
          <p:cNvSpPr>
            <a:spLocks noGrp="1"/>
          </p:cNvSpPr>
          <p:nvPr/>
        </p:nvSpPr>
        <p:spPr>
          <a:xfrm>
            <a:off x="9639300" y="28003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Aprobado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FC5A1D-B04C-4FEA-A135-6096CD18D66F}"/>
              </a:ext>
            </a:extLst>
          </p:cNvPr>
          <p:cNvSpPr>
            <a:spLocks noGrp="1"/>
          </p:cNvSpPr>
          <p:nvPr/>
        </p:nvSpPr>
        <p:spPr>
          <a:xfrm>
            <a:off x="9639300" y="321945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Listo para acreditar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FB7F82A-2D7D-4970-AA5D-D63151B11E39}"/>
              </a:ext>
            </a:extLst>
          </p:cNvPr>
          <p:cNvSpPr>
            <a:spLocks noGrp="1"/>
          </p:cNvSpPr>
          <p:nvPr/>
        </p:nvSpPr>
        <p:spPr>
          <a:xfrm>
            <a:off x="876300" y="4810125"/>
            <a:ext cx="1043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Auditoría centralizada: quién cargó, qué cambió, cuándo se revisó y cuál es el estado actual.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B9130E1-2CD4-4AAE-99B6-C00F4FDB1571}"/>
              </a:ext>
            </a:extLst>
          </p:cNvPr>
          <p:cNvSpPr>
            <a:spLocks noGrp="1"/>
          </p:cNvSpPr>
          <p:nvPr/>
        </p:nvSpPr>
        <p:spPr>
          <a:xfrm>
            <a:off x="876300" y="5429250"/>
            <a:ext cx="1043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B7185"/>
                </a:solidFill>
              </a:defRPr>
            </a:pPr>
            <a:r>
              <a:rPr sz="1275" b="1">
                <a:solidFill>
                  <a:srgbClr val="FB7185"/>
                </a:solidFill>
              </a:rPr>
              <a:t>Alertas ante documentos faltantes, vencidos, inconsistentes o de uso incorrecto.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14B7B44-8B12-4F99-B677-25969A65682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DOMIAN · SMART BUSINESS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589EFFE-441B-45B3-9622-ED6625689A2F}"/>
              </a:ext>
            </a:extLst>
          </p:cNvPr>
          <p:cNvSpPr>
            <a:spLocks noGrp="1"/>
          </p:cNvSpPr>
          <p:nvPr/>
        </p:nvSpPr>
        <p:spPr>
          <a:xfrm>
            <a:off x="10858500" y="64960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971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8C764CB-EEF2-41D2-AF8D-1BC8CFF7C94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CORREO Y WHATSAPP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AAD07FE-506C-4E1B-9A09-30A186A3F43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7ED"/>
                </a:solidFill>
              </a:defRPr>
            </a:pPr>
            <a:r>
              <a:rPr sz="2700" b="1">
                <a:solidFill>
                  <a:srgbClr val="FFF7ED"/>
                </a:solidFill>
              </a:rPr>
              <a:t>Active y comunique al personal desde la misma base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92A3EC-A61E-47E8-9CFC-34359FB065B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C6B3350-E3EE-4A7C-B2F5-49A365F0AEBD}"/>
              </a:ext>
            </a:extLst>
          </p:cNvPr>
          <p:cNvSpPr>
            <a:spLocks noGrp="1"/>
          </p:cNvSpPr>
          <p:nvPr/>
        </p:nvSpPr>
        <p:spPr>
          <a:xfrm>
            <a:off x="5905500" y="17621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7F5664-FDF2-4625-A3BE-7B0EC9475181}"/>
              </a:ext>
            </a:extLst>
          </p:cNvPr>
          <p:cNvSpPr>
            <a:spLocks noGrp="1"/>
          </p:cNvSpPr>
          <p:nvPr/>
        </p:nvSpPr>
        <p:spPr>
          <a:xfrm>
            <a:off x="6134100" y="1676400"/>
            <a:ext cx="510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Base disponible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25C893-EEDA-4FA9-A4EA-4785934F75C1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Seleccione personal ya registrado o incorpore nuevos candidatos.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65C66BDE-9A10-44BC-875E-690B661196F4}"/>
              </a:ext>
            </a:extLst>
          </p:cNvPr>
          <p:cNvSpPr>
            <a:spLocks noGrp="1"/>
          </p:cNvSpPr>
          <p:nvPr/>
        </p:nvSpPr>
        <p:spPr>
          <a:xfrm>
            <a:off x="5905500" y="2771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D2F8F77-4599-4FF3-BA0E-9E718730EB04}"/>
              </a:ext>
            </a:extLst>
          </p:cNvPr>
          <p:cNvSpPr>
            <a:spLocks noGrp="1"/>
          </p:cNvSpPr>
          <p:nvPr/>
        </p:nvSpPr>
        <p:spPr>
          <a:xfrm>
            <a:off x="6134100" y="2686050"/>
            <a:ext cx="510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Grupos por trabajo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95CBA2E-5C8F-4381-B575-29E83C2FC737}"/>
              </a:ext>
            </a:extLst>
          </p:cNvPr>
          <p:cNvSpPr>
            <a:spLocks noGrp="1"/>
          </p:cNvSpPr>
          <p:nvPr/>
        </p:nvSpPr>
        <p:spPr>
          <a:xfrm>
            <a:off x="6134100" y="300990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Organice destinatarios por minera, proyecto, mantención o turno.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8AA1AF7E-2C25-43B0-AC08-6F8F501F717F}"/>
              </a:ext>
            </a:extLst>
          </p:cNvPr>
          <p:cNvSpPr>
            <a:spLocks noGrp="1"/>
          </p:cNvSpPr>
          <p:nvPr/>
        </p:nvSpPr>
        <p:spPr>
          <a:xfrm>
            <a:off x="5905500" y="37814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ECC32B2-AFBC-4AF9-80E3-486009EF27EE}"/>
              </a:ext>
            </a:extLst>
          </p:cNvPr>
          <p:cNvSpPr>
            <a:spLocks noGrp="1"/>
          </p:cNvSpPr>
          <p:nvPr/>
        </p:nvSpPr>
        <p:spPr>
          <a:xfrm>
            <a:off x="6134100" y="3695700"/>
            <a:ext cx="510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Mensajes directos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957C844-83AD-45B2-BC70-5B00EC8DC158}"/>
              </a:ext>
            </a:extLst>
          </p:cNvPr>
          <p:cNvSpPr>
            <a:spLocks noGrp="1"/>
          </p:cNvSpPr>
          <p:nvPr/>
        </p:nvSpPr>
        <p:spPr>
          <a:xfrm>
            <a:off x="6134100" y="401955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Envíe correos o notificaciones por WhatsApp para convocar, informar o confirmar.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B2A24D90-A43B-45D7-9C05-B81C18A61114}"/>
              </a:ext>
            </a:extLst>
          </p:cNvPr>
          <p:cNvSpPr>
            <a:spLocks noGrp="1"/>
          </p:cNvSpPr>
          <p:nvPr/>
        </p:nvSpPr>
        <p:spPr>
          <a:xfrm>
            <a:off x="5905500" y="4791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841A89-B3D5-4727-8DDF-68FC455A95B6}"/>
              </a:ext>
            </a:extLst>
          </p:cNvPr>
          <p:cNvSpPr>
            <a:spLocks noGrp="1"/>
          </p:cNvSpPr>
          <p:nvPr/>
        </p:nvSpPr>
        <p:spPr>
          <a:xfrm>
            <a:off x="6134100" y="4705350"/>
            <a:ext cx="510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Seguimiento central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9BCB29D-4DB4-4247-B151-F22CB126D677}"/>
              </a:ext>
            </a:extLst>
          </p:cNvPr>
          <p:cNvSpPr>
            <a:spLocks noGrp="1"/>
          </p:cNvSpPr>
          <p:nvPr/>
        </p:nvSpPr>
        <p:spPr>
          <a:xfrm>
            <a:off x="6134100" y="502920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Mantenga una referencia única de las personas contactadas para cada servicio.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33EF642-A0CC-47A9-91B9-B1315DCE8B8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DOMIAN · SMART BUSINESS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5F94D67-906B-4FA7-B3B6-93F86A0DDD02}"/>
              </a:ext>
            </a:extLst>
          </p:cNvPr>
          <p:cNvSpPr>
            <a:spLocks noGrp="1"/>
          </p:cNvSpPr>
          <p:nvPr/>
        </p:nvSpPr>
        <p:spPr>
          <a:xfrm>
            <a:off x="10858500" y="64960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08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0E503734-AC4D-5A56-A93A-38D782794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26" y="1798278"/>
            <a:ext cx="5105400" cy="389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89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CF3C96BE-2344-4D76-97AB-2E670C949B4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BENEFICIOS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4836DC-F834-45CE-BD4E-973EC27B8F5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7ED"/>
                </a:solidFill>
              </a:defRPr>
            </a:pPr>
            <a:r>
              <a:rPr sz="2700" b="1">
                <a:solidFill>
                  <a:srgbClr val="FFF7ED"/>
                </a:solidFill>
              </a:rPr>
              <a:t>Un solo lugar para trabajar con más 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AA3FC9C-5714-485D-8008-6B0457CEEA0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DDBF7BA2-37DF-4D70-B48D-2AB57037E42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143500" cy="1143000"/>
          </a:xfrm>
          <a:prstGeom prst="roundRect">
            <a:avLst>
              <a:gd name="adj" fmla="val 6667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C71A14-D490-4CAA-B914-715AD1D548C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7150" cy="1143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99678A2-93E2-4E43-9883-D3748E397422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4714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Menos riesgo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744904B-9C7D-483E-B602-A33592F3E012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471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Alertas antes de un vencimiento o ingreso incompleto.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A2E983D0-C008-48AE-A4FD-6D57674DE47D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5143500" cy="1143000"/>
          </a:xfrm>
          <a:prstGeom prst="roundRect">
            <a:avLst>
              <a:gd name="adj" fmla="val 6667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70FF79-5A90-44D4-9552-DAAE35910A63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57150" cy="1143000"/>
          </a:xfrm>
          <a:prstGeom prst="rect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A8D4B69-7803-4DD0-ACE2-589973C1C122}"/>
              </a:ext>
            </a:extLst>
          </p:cNvPr>
          <p:cNvSpPr>
            <a:spLocks noGrp="1"/>
          </p:cNvSpPr>
          <p:nvPr/>
        </p:nvSpPr>
        <p:spPr>
          <a:xfrm>
            <a:off x="6324600" y="1714500"/>
            <a:ext cx="4714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Menos tiempo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3B0AB1-1558-47E3-8699-D6F29231FDF9}"/>
              </a:ext>
            </a:extLst>
          </p:cNvPr>
          <p:cNvSpPr>
            <a:spLocks noGrp="1"/>
          </p:cNvSpPr>
          <p:nvPr/>
        </p:nvSpPr>
        <p:spPr>
          <a:xfrm>
            <a:off x="6324600" y="2143125"/>
            <a:ext cx="471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Información lista para revisar, acreditar y reportar.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F7D5C578-D45C-4C22-A646-810061BDA0F0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5143500" cy="1143000"/>
          </a:xfrm>
          <a:prstGeom prst="roundRect">
            <a:avLst>
              <a:gd name="adj" fmla="val 6667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E77EE8B-7621-44CC-BF70-6178CB43AA07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57150" cy="1143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E49F810-6759-41DA-BF04-152767855773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4714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Más trazabilidad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7D3AA14-1019-4E7C-9DA9-CF5AC56CFA78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471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Historial de documentos, estados, personas y servicios.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0F1DEEBB-A924-43C4-9972-A8130A56F162}"/>
              </a:ext>
            </a:extLst>
          </p:cNvPr>
          <p:cNvSpPr>
            <a:spLocks noGrp="1"/>
          </p:cNvSpPr>
          <p:nvPr/>
        </p:nvSpPr>
        <p:spPr>
          <a:xfrm>
            <a:off x="6096000" y="2905125"/>
            <a:ext cx="5143500" cy="1143000"/>
          </a:xfrm>
          <a:prstGeom prst="roundRect">
            <a:avLst>
              <a:gd name="adj" fmla="val 6667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8814C9-3F69-41EA-B9E8-70CA1597A0B7}"/>
              </a:ext>
            </a:extLst>
          </p:cNvPr>
          <p:cNvSpPr>
            <a:spLocks noGrp="1"/>
          </p:cNvSpPr>
          <p:nvPr/>
        </p:nvSpPr>
        <p:spPr>
          <a:xfrm>
            <a:off x="6096000" y="2905125"/>
            <a:ext cx="57150" cy="1143000"/>
          </a:xfrm>
          <a:prstGeom prst="rect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2175CB2-0591-4B1F-8158-55945FB9BE09}"/>
              </a:ext>
            </a:extLst>
          </p:cNvPr>
          <p:cNvSpPr>
            <a:spLocks noGrp="1"/>
          </p:cNvSpPr>
          <p:nvPr/>
        </p:nvSpPr>
        <p:spPr>
          <a:xfrm>
            <a:off x="6324600" y="3095625"/>
            <a:ext cx="4714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Más coordinación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E0C8295-55CF-4ECA-90FD-6BCBA582C4F7}"/>
              </a:ext>
            </a:extLst>
          </p:cNvPr>
          <p:cNvSpPr>
            <a:spLocks noGrp="1"/>
          </p:cNvSpPr>
          <p:nvPr/>
        </p:nvSpPr>
        <p:spPr>
          <a:xfrm>
            <a:off x="6324600" y="3524250"/>
            <a:ext cx="471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Convocatoria y comunicación desde la base del personal.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5693573A-0CAF-47A6-A52E-98152D55DB1F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143500" cy="1143000"/>
          </a:xfrm>
          <a:prstGeom prst="roundRect">
            <a:avLst>
              <a:gd name="adj" fmla="val 6667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8E9B7D9-5EE6-4A74-B400-6F6B38BCED4E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7150" cy="1143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4E389DA-F426-416D-A6A9-3206EAC7257F}"/>
              </a:ext>
            </a:extLst>
          </p:cNvPr>
          <p:cNvSpPr>
            <a:spLocks noGrp="1"/>
          </p:cNvSpPr>
          <p:nvPr/>
        </p:nvSpPr>
        <p:spPr>
          <a:xfrm>
            <a:off x="838200" y="4476750"/>
            <a:ext cx="4714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Más claridad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BC62AAF-8125-448C-9BA5-8025B4103BB1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471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Dashboards filtrados por minera, contrato o trabajo.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331854C7-5DA9-461E-8653-F58047397257}"/>
              </a:ext>
            </a:extLst>
          </p:cNvPr>
          <p:cNvSpPr>
            <a:spLocks noGrp="1"/>
          </p:cNvSpPr>
          <p:nvPr/>
        </p:nvSpPr>
        <p:spPr>
          <a:xfrm>
            <a:off x="6096000" y="4286250"/>
            <a:ext cx="5143500" cy="1143000"/>
          </a:xfrm>
          <a:prstGeom prst="roundRect">
            <a:avLst>
              <a:gd name="adj" fmla="val 6667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80F3BA7-AD2C-40D5-9916-03B5B69FED7C}"/>
              </a:ext>
            </a:extLst>
          </p:cNvPr>
          <p:cNvSpPr>
            <a:spLocks noGrp="1"/>
          </p:cNvSpPr>
          <p:nvPr/>
        </p:nvSpPr>
        <p:spPr>
          <a:xfrm>
            <a:off x="6096000" y="4286250"/>
            <a:ext cx="57150" cy="1143000"/>
          </a:xfrm>
          <a:prstGeom prst="rect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5459CDD-C7E9-456F-AE98-86747E88C9AF}"/>
              </a:ext>
            </a:extLst>
          </p:cNvPr>
          <p:cNvSpPr>
            <a:spLocks noGrp="1"/>
          </p:cNvSpPr>
          <p:nvPr/>
        </p:nvSpPr>
        <p:spPr>
          <a:xfrm>
            <a:off x="6324600" y="4476750"/>
            <a:ext cx="4714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7ED"/>
                </a:solidFill>
              </a:defRPr>
            </a:pPr>
            <a:r>
              <a:rPr sz="1575" b="1">
                <a:solidFill>
                  <a:srgbClr val="FFF7ED"/>
                </a:solidFill>
              </a:rPr>
              <a:t>Más autonomía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85F9006-C85C-47C1-855E-D5CB29B8BF86}"/>
              </a:ext>
            </a:extLst>
          </p:cNvPr>
          <p:cNvSpPr>
            <a:spLocks noGrp="1"/>
          </p:cNvSpPr>
          <p:nvPr/>
        </p:nvSpPr>
        <p:spPr>
          <a:xfrm>
            <a:off x="6324600" y="4905375"/>
            <a:ext cx="471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Uso simple y control directo por parte del cliente.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60D7B2C-AC8C-48F6-B6A1-CE7A74F9849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DOMIAN · SMART BUSINESS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78577F2-FC1F-4880-AD9E-63DBC63017E2}"/>
              </a:ext>
            </a:extLst>
          </p:cNvPr>
          <p:cNvSpPr>
            <a:spLocks noGrp="1"/>
          </p:cNvSpPr>
          <p:nvPr/>
        </p:nvSpPr>
        <p:spPr>
          <a:xfrm>
            <a:off x="10858500" y="64960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7492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96100564-A4FA-40F5-B654-E0E742CDFC5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INVERSIÓN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AE39A7B-7FFE-4695-926E-F513F33DF68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7ED"/>
                </a:solidFill>
              </a:defRPr>
            </a:pPr>
            <a:r>
              <a:rPr sz="2700" b="1">
                <a:solidFill>
                  <a:srgbClr val="FFF7ED"/>
                </a:solidFill>
              </a:rPr>
              <a:t>Propuesta económica editable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8C37C9-41E9-4A41-B3D9-C01D4C02CFA0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BEEA32AA-88F0-42E3-AAE6-D85EE650C4A4}"/>
              </a:ext>
            </a:extLst>
          </p:cNvPr>
          <p:cNvSpPr>
            <a:spLocks noGrp="1"/>
          </p:cNvSpPr>
          <p:nvPr/>
        </p:nvSpPr>
        <p:spPr>
          <a:xfrm>
            <a:off x="990600" y="1524000"/>
            <a:ext cx="10210800" cy="3543300"/>
          </a:xfrm>
          <a:prstGeom prst="roundRect">
            <a:avLst>
              <a:gd name="adj" fmla="val 2151"/>
            </a:avLst>
          </a:prstGeom>
          <a:solidFill>
            <a:srgbClr val="20202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74A71B-DE4C-406D-BD3B-DB4DE75CEF67}"/>
              </a:ext>
            </a:extLst>
          </p:cNvPr>
          <p:cNvSpPr>
            <a:spLocks noGrp="1"/>
          </p:cNvSpPr>
          <p:nvPr/>
        </p:nvSpPr>
        <p:spPr>
          <a:xfrm>
            <a:off x="1295400" y="17145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A1A1AA"/>
                </a:solidFill>
              </a:defRPr>
            </a:pPr>
            <a:r>
              <a:rPr sz="1350" b="1">
                <a:solidFill>
                  <a:srgbClr val="A1A1AA"/>
                </a:solidFill>
              </a:rPr>
              <a:t>Concepto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A0B429B-9FCB-4945-ABD3-B241C46DF94D}"/>
              </a:ext>
            </a:extLst>
          </p:cNvPr>
          <p:cNvSpPr>
            <a:spLocks noGrp="1"/>
          </p:cNvSpPr>
          <p:nvPr/>
        </p:nvSpPr>
        <p:spPr>
          <a:xfrm>
            <a:off x="8572500" y="17145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A1A1AA"/>
                </a:solidFill>
              </a:defRPr>
            </a:pPr>
            <a:r>
              <a:rPr sz="1350" b="1">
                <a:solidFill>
                  <a:srgbClr val="A1A1AA"/>
                </a:solidFill>
              </a:rPr>
              <a:t>Valor neto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791A30-98DE-4712-BA84-A280BC2764E0}"/>
              </a:ext>
            </a:extLst>
          </p:cNvPr>
          <p:cNvSpPr>
            <a:spLocks noGrp="1"/>
          </p:cNvSpPr>
          <p:nvPr/>
        </p:nvSpPr>
        <p:spPr>
          <a:xfrm>
            <a:off x="1295400" y="2133600"/>
            <a:ext cx="9563100" cy="9525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9FD90E-6742-4BC9-A268-AEC6CB72E572}"/>
              </a:ext>
            </a:extLst>
          </p:cNvPr>
          <p:cNvSpPr>
            <a:spLocks noGrp="1"/>
          </p:cNvSpPr>
          <p:nvPr/>
        </p:nvSpPr>
        <p:spPr>
          <a:xfrm>
            <a:off x="1295400" y="228600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7ED"/>
                </a:solidFill>
              </a:defRPr>
            </a:pPr>
            <a:r>
              <a:rPr sz="1350" b="0">
                <a:solidFill>
                  <a:srgbClr val="FFF7ED"/>
                </a:solidFill>
              </a:rPr>
              <a:t>Implementación y configuración inicial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B45CB3F-421E-4C78-83BF-F75C19A3A745}"/>
              </a:ext>
            </a:extLst>
          </p:cNvPr>
          <p:cNvSpPr>
            <a:spLocks noGrp="1"/>
          </p:cNvSpPr>
          <p:nvPr/>
        </p:nvSpPr>
        <p:spPr>
          <a:xfrm>
            <a:off x="8572500" y="22860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$0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FEBA549-38C5-4727-8B1B-71625AB2046E}"/>
              </a:ext>
            </a:extLst>
          </p:cNvPr>
          <p:cNvSpPr>
            <a:spLocks noGrp="1"/>
          </p:cNvSpPr>
          <p:nvPr/>
        </p:nvSpPr>
        <p:spPr>
          <a:xfrm>
            <a:off x="1295400" y="2714625"/>
            <a:ext cx="9563100" cy="9525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9A0E5CD-23BE-472E-836B-8FA56BF38476}"/>
              </a:ext>
            </a:extLst>
          </p:cNvPr>
          <p:cNvSpPr>
            <a:spLocks noGrp="1"/>
          </p:cNvSpPr>
          <p:nvPr/>
        </p:nvSpPr>
        <p:spPr>
          <a:xfrm>
            <a:off x="1295400" y="280987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7ED"/>
                </a:solidFill>
              </a:defRPr>
            </a:pPr>
            <a:r>
              <a:rPr sz="1350" b="0">
                <a:solidFill>
                  <a:srgbClr val="FFF7ED"/>
                </a:solidFill>
              </a:rPr>
              <a:t>Migración / carga inicial de datos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C45F68C-062D-4DFD-8EB7-98016A3E81D5}"/>
              </a:ext>
            </a:extLst>
          </p:cNvPr>
          <p:cNvSpPr>
            <a:spLocks noGrp="1"/>
          </p:cNvSpPr>
          <p:nvPr/>
        </p:nvSpPr>
        <p:spPr>
          <a:xfrm>
            <a:off x="8572500" y="2809875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$0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B52545-9774-4008-9A7B-DE74DC2B5AE6}"/>
              </a:ext>
            </a:extLst>
          </p:cNvPr>
          <p:cNvSpPr>
            <a:spLocks noGrp="1"/>
          </p:cNvSpPr>
          <p:nvPr/>
        </p:nvSpPr>
        <p:spPr>
          <a:xfrm>
            <a:off x="1295400" y="3238500"/>
            <a:ext cx="9563100" cy="9525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32844E4-78CF-4C95-8B79-795847A5F6A6}"/>
              </a:ext>
            </a:extLst>
          </p:cNvPr>
          <p:cNvSpPr>
            <a:spLocks noGrp="1"/>
          </p:cNvSpPr>
          <p:nvPr/>
        </p:nvSpPr>
        <p:spPr>
          <a:xfrm>
            <a:off x="1295400" y="33337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7ED"/>
                </a:solidFill>
              </a:defRPr>
            </a:pPr>
            <a:r>
              <a:rPr sz="1350" b="1">
                <a:solidFill>
                  <a:srgbClr val="FFF7ED"/>
                </a:solidFill>
              </a:rPr>
              <a:t>Licencia mensual de plataforma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7974E58-BD37-44E0-8BA0-6362856468F7}"/>
              </a:ext>
            </a:extLst>
          </p:cNvPr>
          <p:cNvSpPr>
            <a:spLocks noGrp="1"/>
          </p:cNvSpPr>
          <p:nvPr/>
        </p:nvSpPr>
        <p:spPr>
          <a:xfrm>
            <a:off x="8572500" y="33337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$0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D69256F-B634-4443-9C94-575EC34DBDEA}"/>
              </a:ext>
            </a:extLst>
          </p:cNvPr>
          <p:cNvSpPr>
            <a:spLocks noGrp="1"/>
          </p:cNvSpPr>
          <p:nvPr/>
        </p:nvSpPr>
        <p:spPr>
          <a:xfrm>
            <a:off x="1295400" y="3762375"/>
            <a:ext cx="9563100" cy="9525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1DA9A2D-FF34-4A01-995F-E91CAAB03DC5}"/>
              </a:ext>
            </a:extLst>
          </p:cNvPr>
          <p:cNvSpPr>
            <a:spLocks noGrp="1"/>
          </p:cNvSpPr>
          <p:nvPr/>
        </p:nvSpPr>
        <p:spPr>
          <a:xfrm>
            <a:off x="1295400" y="38576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7ED"/>
                </a:solidFill>
              </a:defRPr>
            </a:pPr>
            <a:r>
              <a:rPr sz="1350" b="0">
                <a:solidFill>
                  <a:srgbClr val="FFF7ED"/>
                </a:solidFill>
              </a:rPr>
              <a:t>Soporte y mantenimiento mensual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89B6257-B5D3-418D-BA12-65978185C72B}"/>
              </a:ext>
            </a:extLst>
          </p:cNvPr>
          <p:cNvSpPr>
            <a:spLocks noGrp="1"/>
          </p:cNvSpPr>
          <p:nvPr/>
        </p:nvSpPr>
        <p:spPr>
          <a:xfrm>
            <a:off x="8572500" y="3857625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$0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C13AAC-14D9-4A65-9593-6E4716366B2B}"/>
              </a:ext>
            </a:extLst>
          </p:cNvPr>
          <p:cNvSpPr>
            <a:spLocks noGrp="1"/>
          </p:cNvSpPr>
          <p:nvPr/>
        </p:nvSpPr>
        <p:spPr>
          <a:xfrm>
            <a:off x="1295400" y="4286250"/>
            <a:ext cx="9563100" cy="9525"/>
          </a:xfrm>
          <a:prstGeom prst="rect">
            <a:avLst/>
          </a:prstGeom>
          <a:solidFill>
            <a:srgbClr val="3F3F4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9EB2ADE-D498-46C5-81C0-A9371849EA5F}"/>
              </a:ext>
            </a:extLst>
          </p:cNvPr>
          <p:cNvSpPr>
            <a:spLocks noGrp="1"/>
          </p:cNvSpPr>
          <p:nvPr/>
        </p:nvSpPr>
        <p:spPr>
          <a:xfrm>
            <a:off x="1295400" y="438150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7ED"/>
                </a:solidFill>
              </a:defRPr>
            </a:pPr>
            <a:r>
              <a:rPr sz="1350" b="0">
                <a:solidFill>
                  <a:srgbClr val="FFF7ED"/>
                </a:solidFill>
              </a:rPr>
              <a:t>Desarrollos o integraciones adicionales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185CA8C-512B-4F2E-8604-2D94840DB6E5}"/>
              </a:ext>
            </a:extLst>
          </p:cNvPr>
          <p:cNvSpPr>
            <a:spLocks noGrp="1"/>
          </p:cNvSpPr>
          <p:nvPr/>
        </p:nvSpPr>
        <p:spPr>
          <a:xfrm>
            <a:off x="8572500" y="43815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FFF7ED"/>
                </a:solidFill>
              </a:defRPr>
            </a:pPr>
            <a:r>
              <a:rPr sz="1500" b="1">
                <a:solidFill>
                  <a:srgbClr val="FFF7ED"/>
                </a:solidFill>
              </a:rPr>
              <a:t>$0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10E24E3-A164-41F1-B085-F96488BD61B4}"/>
              </a:ext>
            </a:extLst>
          </p:cNvPr>
          <p:cNvSpPr>
            <a:spLocks noGrp="1"/>
          </p:cNvSpPr>
          <p:nvPr/>
        </p:nvSpPr>
        <p:spPr>
          <a:xfrm>
            <a:off x="990600" y="5314950"/>
            <a:ext cx="1021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A1A1AA"/>
                </a:solidFill>
              </a:defRPr>
            </a:pPr>
            <a:r>
              <a:rPr sz="1275" b="0">
                <a:solidFill>
                  <a:srgbClr val="A1A1AA"/>
                </a:solidFill>
              </a:rPr>
              <a:t>Valores por completar según alcance, usuarios y volumen de información.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6727F99-3189-44CE-BF46-5917216446D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DOMIAN · SMART BUSINESS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ABE688D-1B0E-4889-B56A-CC27CA933588}"/>
              </a:ext>
            </a:extLst>
          </p:cNvPr>
          <p:cNvSpPr>
            <a:spLocks noGrp="1"/>
          </p:cNvSpPr>
          <p:nvPr/>
        </p:nvSpPr>
        <p:spPr>
          <a:xfrm>
            <a:off x="10858500" y="64960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1A1AA"/>
                </a:solidFill>
              </a:defRPr>
            </a:pPr>
            <a:r>
              <a:rPr sz="825" b="1">
                <a:solidFill>
                  <a:srgbClr val="A1A1A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6866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0" y="554474"/>
            <a:ext cx="3238500" cy="1615202"/>
          </a:xfrm>
          <a:prstGeom prst="roundRect">
            <a:avLst>
              <a:gd name="adj" fmla="val 4706"/>
            </a:avLst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B6DA9AE-C941-4635-BF0C-691DF63D43CA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971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>
                <a:solidFill>
                  <a:srgbClr val="FFF7ED"/>
                </a:solidFill>
              </a:defRPr>
            </a:pPr>
            <a:r>
              <a:rPr sz="3000" b="1">
                <a:solidFill>
                  <a:srgbClr val="FFF7ED"/>
                </a:solidFill>
              </a:rPr>
              <a:t>Una operación conectada, privada y trazable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52898E-D8A0-4A6B-A57C-726C0C25B206}"/>
              </a:ext>
            </a:extLst>
          </p:cNvPr>
          <p:cNvSpPr>
            <a:spLocks noGrp="1"/>
          </p:cNvSpPr>
          <p:nvPr/>
        </p:nvSpPr>
        <p:spPr>
          <a:xfrm>
            <a:off x="1809750" y="339090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A1A1AA"/>
                </a:solidFill>
              </a:defRPr>
            </a:pPr>
            <a:r>
              <a:rPr sz="1575" b="0">
                <a:solidFill>
                  <a:srgbClr val="A1A1AA"/>
                </a:solidFill>
              </a:rPr>
              <a:t>Acceso Mina reúne personas, servicios, documentos, auditoría y comunicaciones en una plataforma simple y bajo el control del cliente.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FDB28BD2-1DD3-4CBC-B995-0D2834151EA1}"/>
              </a:ext>
            </a:extLst>
          </p:cNvPr>
          <p:cNvSpPr>
            <a:spLocks noGrp="1"/>
          </p:cNvSpPr>
          <p:nvPr/>
        </p:nvSpPr>
        <p:spPr>
          <a:xfrm>
            <a:off x="4286250" y="4629150"/>
            <a:ext cx="3619500" cy="60960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22CD36D-85A3-4CB2-81BD-9EF2AE6EE9C5}"/>
              </a:ext>
            </a:extLst>
          </p:cNvPr>
          <p:cNvSpPr>
            <a:spLocks noGrp="1"/>
          </p:cNvSpPr>
          <p:nvPr/>
        </p:nvSpPr>
        <p:spPr>
          <a:xfrm>
            <a:off x="4286250" y="4629150"/>
            <a:ext cx="3619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3"/>
                </a:solidFill>
              </a:defRPr>
            </a:pPr>
            <a:r>
              <a:rPr sz="1650" b="1">
                <a:solidFill>
                  <a:srgbClr val="111113"/>
                </a:solidFill>
              </a:rPr>
              <a:t>contacto@domian.cl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08D9D93-6005-4C2C-8BA6-99194E4FB7CB}"/>
              </a:ext>
            </a:extLst>
          </p:cNvPr>
          <p:cNvSpPr>
            <a:spLocks noGrp="1"/>
          </p:cNvSpPr>
          <p:nvPr/>
        </p:nvSpPr>
        <p:spPr>
          <a:xfrm>
            <a:off x="3333750" y="55245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7ED"/>
                </a:solidFill>
              </a:defRPr>
            </a:pPr>
            <a:r>
              <a:rPr sz="1275" b="1">
                <a:solidFill>
                  <a:srgbClr val="FFF7ED"/>
                </a:solidFill>
              </a:rPr>
              <a:t>+56 9 7649 0489  ·  www.domian.cl</a:t>
            </a:r>
          </a:p>
        </p:txBody>
      </p:sp>
    </p:spTree>
    <p:extLst>
      <p:ext uri="{BB962C8B-B14F-4D97-AF65-F5344CB8AC3E}">
        <p14:creationId xmlns:p14="http://schemas.microsoft.com/office/powerpoint/2010/main" val="15840256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Macintosh PowerPoint</Application>
  <DocSecurity>0</DocSecurity>
  <PresentationFormat>Panorámica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1</cp:revision>
  <dcterms:created xsi:type="dcterms:W3CDTF">2026-06-29T23:09:18Z</dcterms:created>
  <dcterms:modified xsi:type="dcterms:W3CDTF">2026-06-29T23:19:33Z</dcterms:modified>
</cp:coreProperties>
</file>