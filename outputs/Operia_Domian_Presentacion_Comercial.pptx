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68"/>
  </p:normalViewPr>
  <p:slideViewPr>
    <p:cSldViewPr snapToGrid="0">
      <p:cViewPr varScale="1">
        <p:scale>
          <a:sx n="119" d="100"/>
          <a:sy n="11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444221C-624A-4060-83C5-BC9DFD998F98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F6F1F28-2B8E-418C-AD27-F34A70EFDB8B}"/>
              </a:ext>
            </a:extLst>
          </p:cNvPr>
          <p:cNvSpPr>
            <a:spLocks noGrp="1"/>
          </p:cNvSpPr>
          <p:nvPr/>
        </p:nvSpPr>
        <p:spPr>
          <a:xfrm>
            <a:off x="8648700" y="3619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Tecnología para operaciones conectadas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42785E-79C0-47E5-94B1-FEA10A252A74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7524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00" b="1">
                <a:solidFill>
                  <a:srgbClr val="111111"/>
                </a:solidFill>
              </a:defRPr>
            </a:pPr>
            <a:r>
              <a:rPr sz="6300" b="1">
                <a:solidFill>
                  <a:srgbClr val="111111"/>
                </a:solidFill>
              </a:rPr>
              <a:t>OPERIA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CDF0977-21BB-41ED-BC0D-77D9D2F97543}"/>
              </a:ext>
            </a:extLst>
          </p:cNvPr>
          <p:cNvSpPr>
            <a:spLocks noGrp="1"/>
          </p:cNvSpPr>
          <p:nvPr/>
        </p:nvSpPr>
        <p:spPr>
          <a:xfrm>
            <a:off x="400050" y="2905125"/>
            <a:ext cx="2190750" cy="114300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D84616B-6CB8-498D-8404-C7FF585E27DB}"/>
              </a:ext>
            </a:extLst>
          </p:cNvPr>
          <p:cNvSpPr>
            <a:spLocks noGrp="1"/>
          </p:cNvSpPr>
          <p:nvPr/>
        </p:nvSpPr>
        <p:spPr>
          <a:xfrm>
            <a:off x="400050" y="3314700"/>
            <a:ext cx="6858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Control operativo, personas y cumplimiento</a:t>
            </a:r>
          </a:p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en una sola plataforma.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2B8BC4B-0976-4775-BF12-CD10E4506ABC}"/>
              </a:ext>
            </a:extLst>
          </p:cNvPr>
          <p:cNvSpPr>
            <a:spLocks noGrp="1"/>
          </p:cNvSpPr>
          <p:nvPr/>
        </p:nvSpPr>
        <p:spPr>
          <a:xfrm>
            <a:off x="400050" y="5048250"/>
            <a:ext cx="723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Una solución privada para empresas que coordinan personal, contratos, servicios y activos en múltiples operaciones.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4337B9A-5AF2-4A8D-A1C2-96B418417570}"/>
              </a:ext>
            </a:extLst>
          </p:cNvPr>
          <p:cNvSpPr>
            <a:spLocks noGrp="1"/>
          </p:cNvSpPr>
          <p:nvPr/>
        </p:nvSpPr>
        <p:spPr>
          <a:xfrm>
            <a:off x="8667750" y="1657350"/>
            <a:ext cx="3124200" cy="38576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CBA6F0-83EE-4E5D-8EC2-7D326093E72F}"/>
              </a:ext>
            </a:extLst>
          </p:cNvPr>
          <p:cNvSpPr>
            <a:spLocks noGrp="1"/>
          </p:cNvSpPr>
          <p:nvPr/>
        </p:nvSpPr>
        <p:spPr>
          <a:xfrm>
            <a:off x="9029700" y="20955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Todo conectado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0EDC0E-B5B4-48DA-A94D-0891BA9FE6DC}"/>
              </a:ext>
            </a:extLst>
          </p:cNvPr>
          <p:cNvSpPr>
            <a:spLocks noGrp="1"/>
          </p:cNvSpPr>
          <p:nvPr/>
        </p:nvSpPr>
        <p:spPr>
          <a:xfrm>
            <a:off x="9029700" y="2838450"/>
            <a:ext cx="2381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Personas</a:t>
            </a:r>
          </a:p>
          <a:p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Contratos</a:t>
            </a:r>
          </a:p>
          <a:p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Proyectos</a:t>
            </a:r>
          </a:p>
          <a:p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Documentos</a:t>
            </a:r>
          </a:p>
          <a:p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Comunicaciones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4225E40-B234-431F-820E-0204D5D5AABB}"/>
              </a:ext>
            </a:extLst>
          </p:cNvPr>
          <p:cNvSpPr>
            <a:spLocks noGrp="1"/>
          </p:cNvSpPr>
          <p:nvPr/>
        </p:nvSpPr>
        <p:spPr>
          <a:xfrm>
            <a:off x="9029700" y="5219700"/>
            <a:ext cx="1066800" cy="76200"/>
          </a:xfrm>
          <a:prstGeom prst="rect">
            <a:avLst/>
          </a:prstGeom>
          <a:solidFill>
            <a:srgbClr val="43B6E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A624305-1C6F-4425-A17A-0889C7B7FB47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9D82DFD-4291-4AA1-BDF7-C82AB19E4589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D6D0C86-917F-4F15-966D-9D8F20B0FB6F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488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7EAD98E6-6495-4F4F-9EF8-3C7DC2A6D54F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FD86BF5-5715-4A81-B5CF-137D8B5E144B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La información dispersa vuelve frágil la operación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0DD5A9-865C-402D-99ED-46D9814B9C88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7715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B5B5B"/>
                </a:solidFill>
              </a:defRPr>
            </a:pPr>
            <a:r>
              <a:rPr sz="1800" b="0">
                <a:solidFill>
                  <a:srgbClr val="5B5B5B"/>
                </a:solidFill>
              </a:rPr>
              <a:t>Planillas, carpetas, mensajes y correos separados hacen difícil responder preguntas simples en el momento correcto.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EDDB6B-F10F-4039-9963-D1BE19C266FF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2571750" cy="18097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65D7E54-6B23-46CB-814B-E8B76FE04BF2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76200" cy="1809750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9833DE-11AA-40A4-B70D-BA4E9D794B96}"/>
              </a:ext>
            </a:extLst>
          </p:cNvPr>
          <p:cNvSpPr>
            <a:spLocks noGrp="1"/>
          </p:cNvSpPr>
          <p:nvPr/>
        </p:nvSpPr>
        <p:spPr>
          <a:xfrm>
            <a:off x="657225" y="2867025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Persona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7038F74-4A3D-4C5F-BDAD-BB7A81EAA107}"/>
              </a:ext>
            </a:extLst>
          </p:cNvPr>
          <p:cNvSpPr>
            <a:spLocks noGrp="1"/>
          </p:cNvSpPr>
          <p:nvPr/>
        </p:nvSpPr>
        <p:spPr>
          <a:xfrm>
            <a:off x="657225" y="3686175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B5B5B"/>
                </a:solidFill>
              </a:defRPr>
            </a:pPr>
            <a:r>
              <a:rPr sz="1425" b="1">
                <a:solidFill>
                  <a:srgbClr val="5B5B5B"/>
                </a:solidFill>
              </a:rPr>
              <a:t>Personal habilitado y disponible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A7957A5-8FB8-4B79-8299-8A6AE32C0A2F}"/>
              </a:ext>
            </a:extLst>
          </p:cNvPr>
          <p:cNvSpPr>
            <a:spLocks noGrp="1"/>
          </p:cNvSpPr>
          <p:nvPr/>
        </p:nvSpPr>
        <p:spPr>
          <a:xfrm>
            <a:off x="3162300" y="2619375"/>
            <a:ext cx="2571750" cy="18097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17A2E9B-D964-45A9-A96D-7ED1747E51AB}"/>
              </a:ext>
            </a:extLst>
          </p:cNvPr>
          <p:cNvSpPr>
            <a:spLocks noGrp="1"/>
          </p:cNvSpPr>
          <p:nvPr/>
        </p:nvSpPr>
        <p:spPr>
          <a:xfrm>
            <a:off x="3162300" y="2619375"/>
            <a:ext cx="76200" cy="1809750"/>
          </a:xfrm>
          <a:prstGeom prst="rect">
            <a:avLst/>
          </a:prstGeom>
          <a:solidFill>
            <a:srgbClr val="43B6E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D04E1BB-279A-4869-B238-B50A8B5026B0}"/>
              </a:ext>
            </a:extLst>
          </p:cNvPr>
          <p:cNvSpPr>
            <a:spLocks noGrp="1"/>
          </p:cNvSpPr>
          <p:nvPr/>
        </p:nvSpPr>
        <p:spPr>
          <a:xfrm>
            <a:off x="3419475" y="2867025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Lugar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E17EBE5-0013-4A99-8BA1-2229327EDF80}"/>
              </a:ext>
            </a:extLst>
          </p:cNvPr>
          <p:cNvSpPr>
            <a:spLocks noGrp="1"/>
          </p:cNvSpPr>
          <p:nvPr/>
        </p:nvSpPr>
        <p:spPr>
          <a:xfrm>
            <a:off x="3419475" y="3686175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B5B5B"/>
                </a:solidFill>
              </a:defRPr>
            </a:pPr>
            <a:r>
              <a:rPr sz="1425" b="1">
                <a:solidFill>
                  <a:srgbClr val="5B5B5B"/>
                </a:solidFill>
              </a:rPr>
              <a:t>Proyecto, servicio, turno y alojamiento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4ECF1C0-1459-4834-BBB0-577DC839A862}"/>
              </a:ext>
            </a:extLst>
          </p:cNvPr>
          <p:cNvSpPr>
            <a:spLocks noGrp="1"/>
          </p:cNvSpPr>
          <p:nvPr/>
        </p:nvSpPr>
        <p:spPr>
          <a:xfrm>
            <a:off x="5924550" y="2619375"/>
            <a:ext cx="2571750" cy="18097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C18C0E5-6167-46BF-A4D1-FFBFB90B4858}"/>
              </a:ext>
            </a:extLst>
          </p:cNvPr>
          <p:cNvSpPr>
            <a:spLocks noGrp="1"/>
          </p:cNvSpPr>
          <p:nvPr/>
        </p:nvSpPr>
        <p:spPr>
          <a:xfrm>
            <a:off x="5924550" y="2619375"/>
            <a:ext cx="76200" cy="1809750"/>
          </a:xfrm>
          <a:prstGeom prst="rect">
            <a:avLst/>
          </a:prstGeom>
          <a:solidFill>
            <a:srgbClr val="C73D3D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606C493-258D-46AF-A899-26FF2BE72AA8}"/>
              </a:ext>
            </a:extLst>
          </p:cNvPr>
          <p:cNvSpPr>
            <a:spLocks noGrp="1"/>
          </p:cNvSpPr>
          <p:nvPr/>
        </p:nvSpPr>
        <p:spPr>
          <a:xfrm>
            <a:off x="6181725" y="2867025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Vigencia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0C7996B-9609-4B7A-887B-604EC7AE2665}"/>
              </a:ext>
            </a:extLst>
          </p:cNvPr>
          <p:cNvSpPr>
            <a:spLocks noGrp="1"/>
          </p:cNvSpPr>
          <p:nvPr/>
        </p:nvSpPr>
        <p:spPr>
          <a:xfrm>
            <a:off x="6181725" y="3686175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B5B5B"/>
                </a:solidFill>
              </a:defRPr>
            </a:pPr>
            <a:r>
              <a:rPr sz="1425" b="1">
                <a:solidFill>
                  <a:srgbClr val="5B5B5B"/>
                </a:solidFill>
              </a:rPr>
              <a:t>Documentos, contratos y credenciales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F9EAAED-B0CF-4F83-BF8A-F191E422BB45}"/>
              </a:ext>
            </a:extLst>
          </p:cNvPr>
          <p:cNvSpPr>
            <a:spLocks noGrp="1"/>
          </p:cNvSpPr>
          <p:nvPr/>
        </p:nvSpPr>
        <p:spPr>
          <a:xfrm>
            <a:off x="8686800" y="2619375"/>
            <a:ext cx="3105150" cy="18097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3592DA6-C21D-4974-B74F-5D2DCD34E6EB}"/>
              </a:ext>
            </a:extLst>
          </p:cNvPr>
          <p:cNvSpPr>
            <a:spLocks noGrp="1"/>
          </p:cNvSpPr>
          <p:nvPr/>
        </p:nvSpPr>
        <p:spPr>
          <a:xfrm>
            <a:off x="8686800" y="2619375"/>
            <a:ext cx="76200" cy="1809750"/>
          </a:xfrm>
          <a:prstGeom prst="rect">
            <a:avLst/>
          </a:prstGeom>
          <a:solidFill>
            <a:srgbClr val="16835B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77DD3BE-B55A-4892-B7FD-EDCBBB4139DC}"/>
              </a:ext>
            </a:extLst>
          </p:cNvPr>
          <p:cNvSpPr>
            <a:spLocks noGrp="1"/>
          </p:cNvSpPr>
          <p:nvPr/>
        </p:nvSpPr>
        <p:spPr>
          <a:xfrm>
            <a:off x="8943975" y="28670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Evidencia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B68D53A-0F7B-4407-8102-D3AF9AC877FD}"/>
              </a:ext>
            </a:extLst>
          </p:cNvPr>
          <p:cNvSpPr>
            <a:spLocks noGrp="1"/>
          </p:cNvSpPr>
          <p:nvPr/>
        </p:nvSpPr>
        <p:spPr>
          <a:xfrm>
            <a:off x="8943975" y="3686175"/>
            <a:ext cx="2628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B5B5B"/>
                </a:solidFill>
              </a:defRPr>
            </a:pPr>
            <a:r>
              <a:rPr sz="1425" b="1">
                <a:solidFill>
                  <a:srgbClr val="5B5B5B"/>
                </a:solidFill>
              </a:rPr>
              <a:t>Historial, revisión y responsable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D3118E4-2F1A-4B03-A8E1-F7C9000671BC}"/>
              </a:ext>
            </a:extLst>
          </p:cNvPr>
          <p:cNvSpPr>
            <a:spLocks noGrp="1"/>
          </p:cNvSpPr>
          <p:nvPr/>
        </p:nvSpPr>
        <p:spPr>
          <a:xfrm>
            <a:off x="400050" y="5095875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Operia reúne esas respuestas en un solo lugar y mantiene cada dato relacionado con su contexto operativo.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D2CD855-9985-4323-A8AB-EF4F4663E346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82601C3-FBA7-4112-B67A-233B638FEC01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A827610-EE3C-4D31-BC64-9350E6921AD2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096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B761E589-F4FA-4CAB-AA3D-A0940BEE4060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17CC9-CE38-4E82-803E-1B7D12187590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Una vista ejecutiva permite decidir antes</a:t>
            </a: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439763"/>
            <a:ext cx="7953375" cy="447377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10A8119-82A6-406A-81BB-C7F4ADC5C200}"/>
              </a:ext>
            </a:extLst>
          </p:cNvPr>
          <p:cNvSpPr>
            <a:spLocks noGrp="1"/>
          </p:cNvSpPr>
          <p:nvPr/>
        </p:nvSpPr>
        <p:spPr>
          <a:xfrm>
            <a:off x="8648700" y="1438275"/>
            <a:ext cx="3143250" cy="44767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52D67BB-48E8-42B5-A8B0-09267B832502}"/>
              </a:ext>
            </a:extLst>
          </p:cNvPr>
          <p:cNvSpPr>
            <a:spLocks noGrp="1"/>
          </p:cNvSpPr>
          <p:nvPr/>
        </p:nvSpPr>
        <p:spPr>
          <a:xfrm>
            <a:off x="8934450" y="17526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Dashboard operativo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A4C0F42-ADB0-43A1-BD4D-FAB685C3A3D9}"/>
              </a:ext>
            </a:extLst>
          </p:cNvPr>
          <p:cNvSpPr>
            <a:spLocks noGrp="1"/>
          </p:cNvSpPr>
          <p:nvPr/>
        </p:nvSpPr>
        <p:spPr>
          <a:xfrm>
            <a:off x="8934450" y="2505075"/>
            <a:ext cx="95250" cy="95250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7D3C5BD-9F7C-4C93-97AE-692E9DFEC5E1}"/>
              </a:ext>
            </a:extLst>
          </p:cNvPr>
          <p:cNvSpPr>
            <a:spLocks noGrp="1"/>
          </p:cNvSpPr>
          <p:nvPr/>
        </p:nvSpPr>
        <p:spPr>
          <a:xfrm>
            <a:off x="9191625" y="2428875"/>
            <a:ext cx="2314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Filtra por minera, contrato y servicio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BAD373-CEA6-47FB-A464-A9B3C268456A}"/>
              </a:ext>
            </a:extLst>
          </p:cNvPr>
          <p:cNvSpPr>
            <a:spLocks noGrp="1"/>
          </p:cNvSpPr>
          <p:nvPr/>
        </p:nvSpPr>
        <p:spPr>
          <a:xfrm>
            <a:off x="8934450" y="3190875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1388E41-F9EB-415F-9AE2-9CF5DC52DBB1}"/>
              </a:ext>
            </a:extLst>
          </p:cNvPr>
          <p:cNvSpPr>
            <a:spLocks noGrp="1"/>
          </p:cNvSpPr>
          <p:nvPr/>
        </p:nvSpPr>
        <p:spPr>
          <a:xfrm>
            <a:off x="9191625" y="3114675"/>
            <a:ext cx="2314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Muestra dotación, alertas y acreditación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5CCF8B7-3C37-4DD1-8020-AEA0650E4578}"/>
              </a:ext>
            </a:extLst>
          </p:cNvPr>
          <p:cNvSpPr>
            <a:spLocks noGrp="1"/>
          </p:cNvSpPr>
          <p:nvPr/>
        </p:nvSpPr>
        <p:spPr>
          <a:xfrm>
            <a:off x="8934450" y="3876675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F10E866-8E66-4955-ADCB-FA588A0733DA}"/>
              </a:ext>
            </a:extLst>
          </p:cNvPr>
          <p:cNvSpPr>
            <a:spLocks noGrp="1"/>
          </p:cNvSpPr>
          <p:nvPr/>
        </p:nvSpPr>
        <p:spPr>
          <a:xfrm>
            <a:off x="9191625" y="3800475"/>
            <a:ext cx="2314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Anticipa vencimientos y tareas pendientes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5B50BA1-3ED8-4771-AF64-98A7AF5EDC34}"/>
              </a:ext>
            </a:extLst>
          </p:cNvPr>
          <p:cNvSpPr>
            <a:spLocks noGrp="1"/>
          </p:cNvSpPr>
          <p:nvPr/>
        </p:nvSpPr>
        <p:spPr>
          <a:xfrm>
            <a:off x="8934450" y="4562475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2ACE70D-415C-472A-A5F8-F31235727216}"/>
              </a:ext>
            </a:extLst>
          </p:cNvPr>
          <p:cNvSpPr>
            <a:spLocks noGrp="1"/>
          </p:cNvSpPr>
          <p:nvPr/>
        </p:nvSpPr>
        <p:spPr>
          <a:xfrm>
            <a:off x="9191625" y="4486275"/>
            <a:ext cx="2314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Resume proyectos y llamados recientes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DE76FFE-5D4E-4562-BEC8-114F7655F384}"/>
              </a:ext>
            </a:extLst>
          </p:cNvPr>
          <p:cNvSpPr>
            <a:spLocks noGrp="1"/>
          </p:cNvSpPr>
          <p:nvPr/>
        </p:nvSpPr>
        <p:spPr>
          <a:xfrm>
            <a:off x="8934450" y="5534025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5B5B"/>
                </a:solidFill>
              </a:defRPr>
            </a:pPr>
            <a:r>
              <a:rPr sz="975" b="0">
                <a:solidFill>
                  <a:srgbClr val="5B5B5B"/>
                </a:solidFill>
              </a:rPr>
              <a:t>Captura real del sistema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4C39F49-6B61-473F-AEE8-B54BFD7F1B5A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AFD7354-3B36-4389-8B00-4458E52216D0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07F79AF-53CC-4E37-82CC-ABD2FA500A2B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140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6F2E98B4-8D70-49FC-AAFB-547576E83654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1F13B81-CDBB-4810-A567-6A7797A08A9E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Cada trabajador conserva una ficha completa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92677A2-40BF-4A3C-9645-47D1C708D412}"/>
              </a:ext>
            </a:extLst>
          </p:cNvPr>
          <p:cNvSpPr>
            <a:spLocks noGrp="1"/>
          </p:cNvSpPr>
          <p:nvPr/>
        </p:nvSpPr>
        <p:spPr>
          <a:xfrm>
            <a:off x="400050" y="1457325"/>
            <a:ext cx="3667125" cy="4505325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D287C58-4DBD-40B5-879D-8A554FF9E045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309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Personal de planta y spot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4653BC-2946-4C86-8CA7-BE2F82E350AE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95250" cy="95250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97A378-B004-4427-972B-5A34FF506F53}"/>
              </a:ext>
            </a:extLst>
          </p:cNvPr>
          <p:cNvSpPr>
            <a:spLocks noGrp="1"/>
          </p:cNvSpPr>
          <p:nvPr/>
        </p:nvSpPr>
        <p:spPr>
          <a:xfrm>
            <a:off x="942975" y="2409825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RUT único y datos laborales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BA64BA-2F9F-4E44-B6AD-863F811A92FE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F57AAA-B588-4C03-B107-58B9E10884A4}"/>
              </a:ext>
            </a:extLst>
          </p:cNvPr>
          <p:cNvSpPr>
            <a:spLocks noGrp="1"/>
          </p:cNvSpPr>
          <p:nvPr/>
        </p:nvSpPr>
        <p:spPr>
          <a:xfrm>
            <a:off x="942975" y="291465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Cargo, especialidad y disponibilidad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032EA0-C707-4A32-90DB-2DD7C1B2C29D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FA95C1C-3860-4D0B-AE30-E48E4EF84E9D}"/>
              </a:ext>
            </a:extLst>
          </p:cNvPr>
          <p:cNvSpPr>
            <a:spLocks noGrp="1"/>
          </p:cNvSpPr>
          <p:nvPr/>
        </p:nvSpPr>
        <p:spPr>
          <a:xfrm>
            <a:off x="942975" y="3419475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Asignación a contratos y servicios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9BA76E9-5224-43DA-A12F-F459CEE9C285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C05EA20-470C-4D7B-BD43-00FE00516F35}"/>
              </a:ext>
            </a:extLst>
          </p:cNvPr>
          <p:cNvSpPr>
            <a:spLocks noGrp="1"/>
          </p:cNvSpPr>
          <p:nvPr/>
        </p:nvSpPr>
        <p:spPr>
          <a:xfrm>
            <a:off x="942975" y="392430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Documentos, exámenes y cursos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08A345-161A-40B9-8339-0E4B6F95890E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622B1C0-14DE-4FD1-A2EA-0594C0FC1DE4}"/>
              </a:ext>
            </a:extLst>
          </p:cNvPr>
          <p:cNvSpPr>
            <a:spLocks noGrp="1"/>
          </p:cNvSpPr>
          <p:nvPr/>
        </p:nvSpPr>
        <p:spPr>
          <a:xfrm>
            <a:off x="942975" y="4429125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Alojamiento, turnos y credenciales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26864A0-A800-4AFB-BC76-D2230D813B82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6EF9DF-6FEE-4395-9111-4CEE342705CD}"/>
              </a:ext>
            </a:extLst>
          </p:cNvPr>
          <p:cNvSpPr>
            <a:spLocks noGrp="1"/>
          </p:cNvSpPr>
          <p:nvPr/>
        </p:nvSpPr>
        <p:spPr>
          <a:xfrm>
            <a:off x="942975" y="493395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Alertas de vigencia y bloqueo</a:t>
            </a:r>
          </a:p>
        </p:txBody>
      </p:sp>
      <p:pic>
        <p:nvPicPr>
          <p:cNvPr id="37" name="Imagen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62450" y="1620441"/>
            <a:ext cx="7429500" cy="4179094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EF3CE00-5B18-455F-BEAA-42894C5C9108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BD9609-47B7-44BD-844C-FF20782D1653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5163D42-7B5C-44BE-AE25-48EED5617514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072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964CB9DE-47A1-4D16-872D-CEB099AAC758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CFCF621-9242-4E35-BF53-15056DA4E858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Contratos y servicios comparten una fuente de verdad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86A22A0-274B-436E-827B-A1CE2A32AC2C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1057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B5B5B"/>
                </a:solidFill>
              </a:defRPr>
            </a:pPr>
            <a:r>
              <a:rPr sz="1725" b="0">
                <a:solidFill>
                  <a:srgbClr val="5B5B5B"/>
                </a:solidFill>
              </a:rPr>
              <a:t>La relación entre mandante, contrato, alcance, fechas, servicio y dotación evita registros aislados y facilita demostrar cumplimiento.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8B73BD8-E157-44EE-B0CD-27D3B8389FC6}"/>
              </a:ext>
            </a:extLst>
          </p:cNvPr>
          <p:cNvSpPr>
            <a:spLocks noGrp="1"/>
          </p:cNvSpPr>
          <p:nvPr/>
        </p:nvSpPr>
        <p:spPr>
          <a:xfrm>
            <a:off x="400050" y="2543175"/>
            <a:ext cx="2647950" cy="2800350"/>
          </a:xfrm>
          <a:prstGeom prst="rect">
            <a:avLst/>
          </a:prstGeom>
          <a:solidFill>
            <a:srgbClr val="F8E7D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CCC3CCE-264B-49F2-99C4-CCF3328C7E99}"/>
              </a:ext>
            </a:extLst>
          </p:cNvPr>
          <p:cNvSpPr>
            <a:spLocks noGrp="1"/>
          </p:cNvSpPr>
          <p:nvPr/>
        </p:nvSpPr>
        <p:spPr>
          <a:xfrm>
            <a:off x="628650" y="275272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47A2A"/>
                </a:solidFill>
              </a:defRPr>
            </a:pPr>
            <a:r>
              <a:rPr sz="1875" b="1">
                <a:solidFill>
                  <a:srgbClr val="F47A2A"/>
                </a:solidFill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FAC9C8B-8A94-472D-8E36-5DF109B224B6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Mandante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5B56C5-37B2-4570-8D9B-B6E348621824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2190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Minas, plantas, contactos y requisitos propios.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B1E1A6-AC6F-4DBF-8772-B9F4D7DA3B7F}"/>
              </a:ext>
            </a:extLst>
          </p:cNvPr>
          <p:cNvSpPr>
            <a:spLocks noGrp="1"/>
          </p:cNvSpPr>
          <p:nvPr/>
        </p:nvSpPr>
        <p:spPr>
          <a:xfrm>
            <a:off x="3248025" y="2543175"/>
            <a:ext cx="2647950" cy="28003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C23D0AF-287B-46D9-920C-8EF1F4FC9862}"/>
              </a:ext>
            </a:extLst>
          </p:cNvPr>
          <p:cNvSpPr>
            <a:spLocks noGrp="1"/>
          </p:cNvSpPr>
          <p:nvPr/>
        </p:nvSpPr>
        <p:spPr>
          <a:xfrm>
            <a:off x="3476625" y="275272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195DFAF-B9F5-40C6-B2BB-A67EB76BBD02}"/>
              </a:ext>
            </a:extLst>
          </p:cNvPr>
          <p:cNvSpPr>
            <a:spLocks noGrp="1"/>
          </p:cNvSpPr>
          <p:nvPr/>
        </p:nvSpPr>
        <p:spPr>
          <a:xfrm>
            <a:off x="3476625" y="34766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Contrato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26B2819-743A-4780-954B-B75670CBA36F}"/>
              </a:ext>
            </a:extLst>
          </p:cNvPr>
          <p:cNvSpPr>
            <a:spLocks noGrp="1"/>
          </p:cNvSpPr>
          <p:nvPr/>
        </p:nvSpPr>
        <p:spPr>
          <a:xfrm>
            <a:off x="3476625" y="4095750"/>
            <a:ext cx="2190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Vigencia, alcance, documentos y responsables.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277D805-93C9-4D3B-996A-5A47B87E9030}"/>
              </a:ext>
            </a:extLst>
          </p:cNvPr>
          <p:cNvSpPr>
            <a:spLocks noGrp="1"/>
          </p:cNvSpPr>
          <p:nvPr/>
        </p:nvSpPr>
        <p:spPr>
          <a:xfrm>
            <a:off x="6096000" y="2543175"/>
            <a:ext cx="2647950" cy="28003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8773E43-E1A0-4BFE-B442-B0BCFC62D505}"/>
              </a:ext>
            </a:extLst>
          </p:cNvPr>
          <p:cNvSpPr>
            <a:spLocks noGrp="1"/>
          </p:cNvSpPr>
          <p:nvPr/>
        </p:nvSpPr>
        <p:spPr>
          <a:xfrm>
            <a:off x="6324600" y="275272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2FC930F-2359-4901-AC00-0FFE106CEC14}"/>
              </a:ext>
            </a:extLst>
          </p:cNvPr>
          <p:cNvSpPr>
            <a:spLocks noGrp="1"/>
          </p:cNvSpPr>
          <p:nvPr/>
        </p:nvSpPr>
        <p:spPr>
          <a:xfrm>
            <a:off x="6324600" y="34766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Servicio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0E9357E-61EC-4234-A2B1-8C541B432B47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2190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Proyecto, mantención u operación con fechas y recursos.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65FFFA8-24F7-4B1B-9C9D-821E3D0F15A6}"/>
              </a:ext>
            </a:extLst>
          </p:cNvPr>
          <p:cNvSpPr>
            <a:spLocks noGrp="1"/>
          </p:cNvSpPr>
          <p:nvPr/>
        </p:nvSpPr>
        <p:spPr>
          <a:xfrm>
            <a:off x="8943975" y="2543175"/>
            <a:ext cx="2647950" cy="28003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D9EF43A-88E1-4F3C-8994-22A03D614612}"/>
              </a:ext>
            </a:extLst>
          </p:cNvPr>
          <p:cNvSpPr>
            <a:spLocks noGrp="1"/>
          </p:cNvSpPr>
          <p:nvPr/>
        </p:nvSpPr>
        <p:spPr>
          <a:xfrm>
            <a:off x="9172575" y="275272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13EA7F9-78A5-46BA-A923-1FA8E83B8758}"/>
              </a:ext>
            </a:extLst>
          </p:cNvPr>
          <p:cNvSpPr>
            <a:spLocks noGrp="1"/>
          </p:cNvSpPr>
          <p:nvPr/>
        </p:nvSpPr>
        <p:spPr>
          <a:xfrm>
            <a:off x="9172575" y="34766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Ejecución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2DB7E94-BF38-4B40-A90D-2CDCB57ED094}"/>
              </a:ext>
            </a:extLst>
          </p:cNvPr>
          <p:cNvSpPr>
            <a:spLocks noGrp="1"/>
          </p:cNvSpPr>
          <p:nvPr/>
        </p:nvSpPr>
        <p:spPr>
          <a:xfrm>
            <a:off x="9172575" y="4095750"/>
            <a:ext cx="2190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Personas, turnos, permisos, equipos y alojamiento.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34DA63E-657D-4EE6-8DFB-E0950B97C70A}"/>
              </a:ext>
            </a:extLst>
          </p:cNvPr>
          <p:cNvSpPr>
            <a:spLocks noGrp="1"/>
          </p:cNvSpPr>
          <p:nvPr/>
        </p:nvSpPr>
        <p:spPr>
          <a:xfrm>
            <a:off x="400050" y="567690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Al cambiar un dato, sus alertas, reportes y fichas relacionadas se actualizan dentro de la misma empresa.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73BC98B-40E5-472C-9192-AE32114A8D38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D4B37EC-16C5-4147-A345-8A8BC4963B8A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4FD3EA4-3E5E-44D9-94BB-B19245C0A590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9842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9E26935-763B-4996-8499-53C76FEC5D6B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A50678B-08C5-4029-B7B9-1DAF9FA70961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La entrega de EPP queda asociada a la persona y al trabajo</a:t>
            </a: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543050"/>
            <a:ext cx="7620000" cy="428625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C584CB7-B773-4A5E-86CE-68ADCD62E00C}"/>
              </a:ext>
            </a:extLst>
          </p:cNvPr>
          <p:cNvSpPr>
            <a:spLocks noGrp="1"/>
          </p:cNvSpPr>
          <p:nvPr/>
        </p:nvSpPr>
        <p:spPr>
          <a:xfrm>
            <a:off x="8334375" y="1476375"/>
            <a:ext cx="3457575" cy="44196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3DE1DDD-D4E1-4A9E-A676-209F302B5F42}"/>
              </a:ext>
            </a:extLst>
          </p:cNvPr>
          <p:cNvSpPr>
            <a:spLocks noGrp="1"/>
          </p:cNvSpPr>
          <p:nvPr/>
        </p:nvSpPr>
        <p:spPr>
          <a:xfrm>
            <a:off x="8620125" y="1809750"/>
            <a:ext cx="2905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Control demostrable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C9750B-6054-4F85-8EF8-3CE0CFD52E06}"/>
              </a:ext>
            </a:extLst>
          </p:cNvPr>
          <p:cNvSpPr>
            <a:spLocks noGrp="1"/>
          </p:cNvSpPr>
          <p:nvPr/>
        </p:nvSpPr>
        <p:spPr>
          <a:xfrm>
            <a:off x="8620125" y="2505075"/>
            <a:ext cx="95250" cy="95250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C888821-42A4-4196-B102-E0E575EC18D7}"/>
              </a:ext>
            </a:extLst>
          </p:cNvPr>
          <p:cNvSpPr>
            <a:spLocks noGrp="1"/>
          </p:cNvSpPr>
          <p:nvPr/>
        </p:nvSpPr>
        <p:spPr>
          <a:xfrm>
            <a:off x="8877300" y="2428875"/>
            <a:ext cx="26003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Matriz sugerida según cargo y riesgo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C492F2F-DDFC-48C6-9535-37B556CF6716}"/>
              </a:ext>
            </a:extLst>
          </p:cNvPr>
          <p:cNvSpPr>
            <a:spLocks noGrp="1"/>
          </p:cNvSpPr>
          <p:nvPr/>
        </p:nvSpPr>
        <p:spPr>
          <a:xfrm>
            <a:off x="8620125" y="312420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6A0ADFB-9C9C-495A-9405-093D40CA270C}"/>
              </a:ext>
            </a:extLst>
          </p:cNvPr>
          <p:cNvSpPr>
            <a:spLocks noGrp="1"/>
          </p:cNvSpPr>
          <p:nvPr/>
        </p:nvSpPr>
        <p:spPr>
          <a:xfrm>
            <a:off x="8877300" y="3048000"/>
            <a:ext cx="26003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Tallas y medidas por trabajador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B524183-C689-4CD0-BD6C-57FF0BE4C70A}"/>
              </a:ext>
            </a:extLst>
          </p:cNvPr>
          <p:cNvSpPr>
            <a:spLocks noGrp="1"/>
          </p:cNvSpPr>
          <p:nvPr/>
        </p:nvSpPr>
        <p:spPr>
          <a:xfrm>
            <a:off x="8620125" y="3743325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71B0D06-CC73-4B50-8A5F-84757E29B9E8}"/>
              </a:ext>
            </a:extLst>
          </p:cNvPr>
          <p:cNvSpPr>
            <a:spLocks noGrp="1"/>
          </p:cNvSpPr>
          <p:nvPr/>
        </p:nvSpPr>
        <p:spPr>
          <a:xfrm>
            <a:off x="8877300" y="3667125"/>
            <a:ext cx="26003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Estado, cantidad y fecha de entrega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44F067F-4AE7-42F4-B154-A67C12E10063}"/>
              </a:ext>
            </a:extLst>
          </p:cNvPr>
          <p:cNvSpPr>
            <a:spLocks noGrp="1"/>
          </p:cNvSpPr>
          <p:nvPr/>
        </p:nvSpPr>
        <p:spPr>
          <a:xfrm>
            <a:off x="8620125" y="4362450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AADABAB-4B0D-400E-9E5D-AE02194A2678}"/>
              </a:ext>
            </a:extLst>
          </p:cNvPr>
          <p:cNvSpPr>
            <a:spLocks noGrp="1"/>
          </p:cNvSpPr>
          <p:nvPr/>
        </p:nvSpPr>
        <p:spPr>
          <a:xfrm>
            <a:off x="8877300" y="4286250"/>
            <a:ext cx="26003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Lote, serie y próxima reposición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9D0CA86-725A-4E38-9E9D-6A9CF3220FCD}"/>
              </a:ext>
            </a:extLst>
          </p:cNvPr>
          <p:cNvSpPr>
            <a:spLocks noGrp="1"/>
          </p:cNvSpPr>
          <p:nvPr/>
        </p:nvSpPr>
        <p:spPr>
          <a:xfrm>
            <a:off x="8620125" y="4981575"/>
            <a:ext cx="95250" cy="952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1CE7CC5-A220-41F7-8206-244D37E9B167}"/>
              </a:ext>
            </a:extLst>
          </p:cNvPr>
          <p:cNvSpPr>
            <a:spLocks noGrp="1"/>
          </p:cNvSpPr>
          <p:nvPr/>
        </p:nvSpPr>
        <p:spPr>
          <a:xfrm>
            <a:off x="8877300" y="4905375"/>
            <a:ext cx="26003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Historial para planta y personal spot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0C00BA5-864E-4086-B7D5-E0C588016C50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D5EB3E8-FB0E-49EF-B262-7B45A27E8FD2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6403634-9A38-455A-A803-26567BB41CA3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4328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0ADCE5A9-A7A9-4BBC-B383-E3745A02753D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D0EC24-1E7F-4525-8854-EA665CE916C6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La revisión documental se convierte en un flujo trazable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4951CB-57E1-4037-B3AD-23B980A8C638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3619500" cy="44767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A5CF62F-F0DD-403E-878C-4EE71D8F3006}"/>
              </a:ext>
            </a:extLst>
          </p:cNvPr>
          <p:cNvSpPr>
            <a:spLocks noGrp="1"/>
          </p:cNvSpPr>
          <p:nvPr/>
        </p:nvSpPr>
        <p:spPr>
          <a:xfrm>
            <a:off x="714375" y="1790700"/>
            <a:ext cx="2857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Cargado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Enviado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En revisión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Observado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Corregido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Aprobado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BBEBF76-DBA7-4323-BDB4-C5130CB54696}"/>
              </a:ext>
            </a:extLst>
          </p:cNvPr>
          <p:cNvSpPr>
            <a:spLocks noGrp="1"/>
          </p:cNvSpPr>
          <p:nvPr/>
        </p:nvSpPr>
        <p:spPr>
          <a:xfrm>
            <a:off x="714375" y="5429250"/>
            <a:ext cx="1476375" cy="76200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05300" y="1571030"/>
            <a:ext cx="7486650" cy="4211241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2CDC5BFF-ECC0-4AFE-AEEE-D10B3B985CC4}"/>
              </a:ext>
            </a:extLst>
          </p:cNvPr>
          <p:cNvSpPr>
            <a:spLocks noGrp="1"/>
          </p:cNvSpPr>
          <p:nvPr/>
        </p:nvSpPr>
        <p:spPr>
          <a:xfrm>
            <a:off x="4476750" y="5438775"/>
            <a:ext cx="7000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OCR, firma, QR, fotografía, integridad y emisor pueden registrarse como controles; la aprobación final queda atribuida a un responsable.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FF69D8-C78C-4BB0-A0C3-35CDB1E8BB37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710E67-91BC-42CE-99B3-8EA616046EA4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48089FC-D346-4249-8E2B-EE4020348695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859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ECF954F6-914A-4356-8DFC-0DF34DC06F69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A90726-B0E0-4037-AD49-D3CB02821ABE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La comunicación parte desde la misma base operacional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480636E-D626-4583-B20B-F24B0D01D655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B5B5B"/>
                </a:solidFill>
              </a:defRPr>
            </a:pPr>
            <a:r>
              <a:rPr sz="1800" b="0">
                <a:solidFill>
                  <a:srgbClr val="5B5B5B"/>
                </a:solidFill>
              </a:rPr>
              <a:t>Selecciona personas ya registradas y comunica una necesidad sin reconstruir listas cada vez.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2298314-D508-42D6-B408-D316EBDBFF1F}"/>
              </a:ext>
            </a:extLst>
          </p:cNvPr>
          <p:cNvSpPr>
            <a:spLocks noGrp="1"/>
          </p:cNvSpPr>
          <p:nvPr/>
        </p:nvSpPr>
        <p:spPr>
          <a:xfrm>
            <a:off x="400050" y="2514600"/>
            <a:ext cx="5372100" cy="13335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9EC59F3-DF73-4E16-B8B1-A78A05165ACA}"/>
              </a:ext>
            </a:extLst>
          </p:cNvPr>
          <p:cNvSpPr>
            <a:spLocks noGrp="1"/>
          </p:cNvSpPr>
          <p:nvPr/>
        </p:nvSpPr>
        <p:spPr>
          <a:xfrm>
            <a:off x="400050" y="2514600"/>
            <a:ext cx="85725" cy="1333500"/>
          </a:xfrm>
          <a:prstGeom prst="rect">
            <a:avLst/>
          </a:prstGeom>
          <a:solidFill>
            <a:srgbClr val="16835B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AFC3690-2F86-46FB-86A3-94AECA3F9F78}"/>
              </a:ext>
            </a:extLst>
          </p:cNvPr>
          <p:cNvSpPr>
            <a:spLocks noGrp="1"/>
          </p:cNvSpPr>
          <p:nvPr/>
        </p:nvSpPr>
        <p:spPr>
          <a:xfrm>
            <a:off x="733425" y="2762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WhatsApp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1B47D63-B1C6-4A9D-895E-860913F08F91}"/>
              </a:ext>
            </a:extLst>
          </p:cNvPr>
          <p:cNvSpPr>
            <a:spLocks noGrp="1"/>
          </p:cNvSpPr>
          <p:nvPr/>
        </p:nvSpPr>
        <p:spPr>
          <a:xfrm>
            <a:off x="733425" y="3219450"/>
            <a:ext cx="4619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Mensajes individuales o llamados por grupo y servicio.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E16ABC-3B27-4DDC-869F-62AA7C4AE307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5372100" cy="13335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DA576EA-E116-4E70-9FBB-765ADAC5E460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85725" cy="1333500"/>
          </a:xfrm>
          <a:prstGeom prst="rect">
            <a:avLst/>
          </a:prstGeom>
          <a:solidFill>
            <a:srgbClr val="43B6E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95321B8-3913-4E67-B956-02D7DB2A0F1F}"/>
              </a:ext>
            </a:extLst>
          </p:cNvPr>
          <p:cNvSpPr>
            <a:spLocks noGrp="1"/>
          </p:cNvSpPr>
          <p:nvPr/>
        </p:nvSpPr>
        <p:spPr>
          <a:xfrm>
            <a:off x="6429375" y="2762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Correo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E5E7E69-5602-431A-B488-B955414B5317}"/>
              </a:ext>
            </a:extLst>
          </p:cNvPr>
          <p:cNvSpPr>
            <a:spLocks noGrp="1"/>
          </p:cNvSpPr>
          <p:nvPr/>
        </p:nvSpPr>
        <p:spPr>
          <a:xfrm>
            <a:off x="6429375" y="3219450"/>
            <a:ext cx="4619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Avisos, documentación y comunicaciones formales.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2B28FA-6EB9-4C8A-AD11-15DE4D95DE15}"/>
              </a:ext>
            </a:extLst>
          </p:cNvPr>
          <p:cNvSpPr>
            <a:spLocks noGrp="1"/>
          </p:cNvSpPr>
          <p:nvPr/>
        </p:nvSpPr>
        <p:spPr>
          <a:xfrm>
            <a:off x="400050" y="4133850"/>
            <a:ext cx="5372100" cy="13335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848BE68-9E04-42E3-97DE-7CA064BE1F7B}"/>
              </a:ext>
            </a:extLst>
          </p:cNvPr>
          <p:cNvSpPr>
            <a:spLocks noGrp="1"/>
          </p:cNvSpPr>
          <p:nvPr/>
        </p:nvSpPr>
        <p:spPr>
          <a:xfrm>
            <a:off x="400050" y="4133850"/>
            <a:ext cx="85725" cy="1333500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36370F-72DA-4130-8D7C-56DDE62ED581}"/>
              </a:ext>
            </a:extLst>
          </p:cNvPr>
          <p:cNvSpPr>
            <a:spLocks noGrp="1"/>
          </p:cNvSpPr>
          <p:nvPr/>
        </p:nvSpPr>
        <p:spPr>
          <a:xfrm>
            <a:off x="733425" y="4381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Firma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01D7656-110C-40CC-8062-DE368036C134}"/>
              </a:ext>
            </a:extLst>
          </p:cNvPr>
          <p:cNvSpPr>
            <a:spLocks noGrp="1"/>
          </p:cNvSpPr>
          <p:nvPr/>
        </p:nvSpPr>
        <p:spPr>
          <a:xfrm>
            <a:off x="733425" y="4838700"/>
            <a:ext cx="4619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Solicitudes asociadas al trabajador y al proyecto.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126A41A-9FB4-4ACC-ADCC-D40E66B661EE}"/>
              </a:ext>
            </a:extLst>
          </p:cNvPr>
          <p:cNvSpPr>
            <a:spLocks noGrp="1"/>
          </p:cNvSpPr>
          <p:nvPr/>
        </p:nvSpPr>
        <p:spPr>
          <a:xfrm>
            <a:off x="6096000" y="4133850"/>
            <a:ext cx="5372100" cy="13335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E6FC621-6F90-4E0A-80DD-D9AD5F9E2233}"/>
              </a:ext>
            </a:extLst>
          </p:cNvPr>
          <p:cNvSpPr>
            <a:spLocks noGrp="1"/>
          </p:cNvSpPr>
          <p:nvPr/>
        </p:nvSpPr>
        <p:spPr>
          <a:xfrm>
            <a:off x="6096000" y="4133850"/>
            <a:ext cx="85725" cy="1333500"/>
          </a:xfrm>
          <a:prstGeom prst="rect">
            <a:avLst/>
          </a:prstGeom>
          <a:solidFill>
            <a:srgbClr val="C73D3D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1B8DBD0-BE31-4D58-98A7-9DC9A83F36CE}"/>
              </a:ext>
            </a:extLst>
          </p:cNvPr>
          <p:cNvSpPr>
            <a:spLocks noGrp="1"/>
          </p:cNvSpPr>
          <p:nvPr/>
        </p:nvSpPr>
        <p:spPr>
          <a:xfrm>
            <a:off x="6429375" y="4381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Reportes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3907387-CB82-4F63-8B90-9377B4B43EAD}"/>
              </a:ext>
            </a:extLst>
          </p:cNvPr>
          <p:cNvSpPr>
            <a:spLocks noGrp="1"/>
          </p:cNvSpPr>
          <p:nvPr/>
        </p:nvSpPr>
        <p:spPr>
          <a:xfrm>
            <a:off x="6429375" y="4838700"/>
            <a:ext cx="4619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Envíos programados y separados por tema.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F1B1084-B9BD-4E7B-AE5D-F9264555ED51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F5E2787-6898-4B7A-B2E3-B6BCCED60876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D921390-A2B8-47F5-A801-D6BC03FE798D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680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BC2056F4-1F1D-4653-BB0B-81FD7D782746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3C3203-FAF8-42BE-8EC1-51707760E103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Cada empresa trabaja en un espacio privado e independiente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B9A54E8-4D3B-46A0-8C5E-07100D3FA4CD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5B5B5B"/>
                </a:solidFill>
              </a:defRPr>
            </a:pPr>
            <a:r>
              <a:rPr sz="1875" b="0">
                <a:solidFill>
                  <a:srgbClr val="5B5B5B"/>
                </a:solidFill>
              </a:rPr>
              <a:t>Una plataforma, múltiples clientes, sin mezclar información ni configuraciones.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1791E5E-3C77-4FD5-9B21-32649436C069}"/>
              </a:ext>
            </a:extLst>
          </p:cNvPr>
          <p:cNvSpPr>
            <a:spLocks noGrp="1"/>
          </p:cNvSpPr>
          <p:nvPr/>
        </p:nvSpPr>
        <p:spPr>
          <a:xfrm>
            <a:off x="400050" y="2457450"/>
            <a:ext cx="2647950" cy="18097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7793871-17A1-4F0A-AF0E-FF7D2188A706}"/>
              </a:ext>
            </a:extLst>
          </p:cNvPr>
          <p:cNvSpPr>
            <a:spLocks noGrp="1"/>
          </p:cNvSpPr>
          <p:nvPr/>
        </p:nvSpPr>
        <p:spPr>
          <a:xfrm>
            <a:off x="400050" y="2457450"/>
            <a:ext cx="76200" cy="1809750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8C3C31-11BB-4241-9D45-36DD1CEB061B}"/>
              </a:ext>
            </a:extLst>
          </p:cNvPr>
          <p:cNvSpPr>
            <a:spLocks noGrp="1"/>
          </p:cNvSpPr>
          <p:nvPr/>
        </p:nvSpPr>
        <p:spPr>
          <a:xfrm>
            <a:off x="657225" y="27051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40C9F08-A5F3-4D7A-AA01-EB14EA3F5418}"/>
              </a:ext>
            </a:extLst>
          </p:cNvPr>
          <p:cNvSpPr>
            <a:spLocks noGrp="1"/>
          </p:cNvSpPr>
          <p:nvPr/>
        </p:nvSpPr>
        <p:spPr>
          <a:xfrm>
            <a:off x="657225" y="3524250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B5B5B"/>
                </a:solidFill>
              </a:defRPr>
            </a:pPr>
            <a:r>
              <a:rPr sz="1425" b="1">
                <a:solidFill>
                  <a:srgbClr val="5B5B5B"/>
                </a:solidFill>
              </a:rPr>
              <a:t>Marca, usuarios y datos propios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320282-9918-4006-9129-832075D5CE76}"/>
              </a:ext>
            </a:extLst>
          </p:cNvPr>
          <p:cNvSpPr>
            <a:spLocks noGrp="1"/>
          </p:cNvSpPr>
          <p:nvPr/>
        </p:nvSpPr>
        <p:spPr>
          <a:xfrm>
            <a:off x="3238500" y="2457450"/>
            <a:ext cx="2647950" cy="18097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0A4637-0E97-451E-A2E6-A478E36928A4}"/>
              </a:ext>
            </a:extLst>
          </p:cNvPr>
          <p:cNvSpPr>
            <a:spLocks noGrp="1"/>
          </p:cNvSpPr>
          <p:nvPr/>
        </p:nvSpPr>
        <p:spPr>
          <a:xfrm>
            <a:off x="3238500" y="2457450"/>
            <a:ext cx="76200" cy="1809750"/>
          </a:xfrm>
          <a:prstGeom prst="rect">
            <a:avLst/>
          </a:prstGeom>
          <a:solidFill>
            <a:srgbClr val="43B6E8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6BB296-E374-4FF0-8480-C816517CEF66}"/>
              </a:ext>
            </a:extLst>
          </p:cNvPr>
          <p:cNvSpPr>
            <a:spLocks noGrp="1"/>
          </p:cNvSpPr>
          <p:nvPr/>
        </p:nvSpPr>
        <p:spPr>
          <a:xfrm>
            <a:off x="3495675" y="27051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B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989427B-10F9-4AA0-B389-BCD2FED07B0A}"/>
              </a:ext>
            </a:extLst>
          </p:cNvPr>
          <p:cNvSpPr>
            <a:spLocks noGrp="1"/>
          </p:cNvSpPr>
          <p:nvPr/>
        </p:nvSpPr>
        <p:spPr>
          <a:xfrm>
            <a:off x="3495675" y="3524250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B5B5B"/>
                </a:solidFill>
              </a:defRPr>
            </a:pPr>
            <a:r>
              <a:rPr sz="1425" b="1">
                <a:solidFill>
                  <a:srgbClr val="5B5B5B"/>
                </a:solidFill>
              </a:rPr>
              <a:t>Permisos y módulos independientes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1E8EE96-D33D-4FD9-AA7A-EC8460BD90A3}"/>
              </a:ext>
            </a:extLst>
          </p:cNvPr>
          <p:cNvSpPr>
            <a:spLocks noGrp="1"/>
          </p:cNvSpPr>
          <p:nvPr/>
        </p:nvSpPr>
        <p:spPr>
          <a:xfrm>
            <a:off x="6076950" y="2457450"/>
            <a:ext cx="2647950" cy="18097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9300CFE-1DFB-4EB3-8992-A069FD088A25}"/>
              </a:ext>
            </a:extLst>
          </p:cNvPr>
          <p:cNvSpPr>
            <a:spLocks noGrp="1"/>
          </p:cNvSpPr>
          <p:nvPr/>
        </p:nvSpPr>
        <p:spPr>
          <a:xfrm>
            <a:off x="6076950" y="2457450"/>
            <a:ext cx="76200" cy="1809750"/>
          </a:xfrm>
          <a:prstGeom prst="rect">
            <a:avLst/>
          </a:prstGeom>
          <a:solidFill>
            <a:srgbClr val="16835B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4630DA8-FB61-49A3-8EA8-7869D0CFEF9B}"/>
              </a:ext>
            </a:extLst>
          </p:cNvPr>
          <p:cNvSpPr>
            <a:spLocks noGrp="1"/>
          </p:cNvSpPr>
          <p:nvPr/>
        </p:nvSpPr>
        <p:spPr>
          <a:xfrm>
            <a:off x="6334125" y="27051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982627F-3312-4A23-81F5-386D99CBB3EE}"/>
              </a:ext>
            </a:extLst>
          </p:cNvPr>
          <p:cNvSpPr>
            <a:spLocks noGrp="1"/>
          </p:cNvSpPr>
          <p:nvPr/>
        </p:nvSpPr>
        <p:spPr>
          <a:xfrm>
            <a:off x="6334125" y="3524250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B5B5B"/>
                </a:solidFill>
              </a:defRPr>
            </a:pPr>
            <a:r>
              <a:rPr sz="1425" b="1">
                <a:solidFill>
                  <a:srgbClr val="5B5B5B"/>
                </a:solidFill>
              </a:rPr>
              <a:t>Crecimiento sin compartir registros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32054F1-A6DA-4B9A-89F1-CE29DB1C965C}"/>
              </a:ext>
            </a:extLst>
          </p:cNvPr>
          <p:cNvSpPr>
            <a:spLocks noGrp="1"/>
          </p:cNvSpPr>
          <p:nvPr/>
        </p:nvSpPr>
        <p:spPr>
          <a:xfrm>
            <a:off x="8915400" y="2457450"/>
            <a:ext cx="2876550" cy="18097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682A80B-1B7A-409F-8CFE-95FA15DA73B5}"/>
              </a:ext>
            </a:extLst>
          </p:cNvPr>
          <p:cNvSpPr>
            <a:spLocks noGrp="1"/>
          </p:cNvSpPr>
          <p:nvPr/>
        </p:nvSpPr>
        <p:spPr>
          <a:xfrm>
            <a:off x="9172575" y="27051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Roles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776DC05-6517-472B-A2B5-3F0AC695118B}"/>
              </a:ext>
            </a:extLst>
          </p:cNvPr>
          <p:cNvSpPr>
            <a:spLocks noGrp="1"/>
          </p:cNvSpPr>
          <p:nvPr/>
        </p:nvSpPr>
        <p:spPr>
          <a:xfrm>
            <a:off x="9172575" y="3181350"/>
            <a:ext cx="228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Administración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RR.HH.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Prevención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Acreditación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Consulta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C2541D2-7EDC-4F62-AB7B-BDBC184C4B1F}"/>
              </a:ext>
            </a:extLst>
          </p:cNvPr>
          <p:cNvSpPr>
            <a:spLocks noGrp="1"/>
          </p:cNvSpPr>
          <p:nvPr/>
        </p:nvSpPr>
        <p:spPr>
          <a:xfrm>
            <a:off x="400050" y="4981575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Bitácora, respaldo, políticas de conservación y gestión de accesos permiten mantener control sobre quién consulta y modifica la información.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78548D8-945E-4C7A-9F67-9572B68FA6CD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5A897C2-1E1D-40C1-B153-B93F62B0107E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064E7A9-3003-4C82-9537-2A87D9F7B4FD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534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7423B084-CA80-4D25-AB0B-083491725E56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12F4A1A-D9D4-4F49-87F1-B277205F5E08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Operia cubre el ciclo completo de una empresa de servicios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955F7B-035C-4664-B5B6-1B1707E38AB7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3562350" cy="2057400"/>
          </a:xfrm>
          <a:prstGeom prst="rect">
            <a:avLst/>
          </a:prstGeom>
          <a:solidFill>
            <a:srgbClr val="F8E7D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94A6A2-B90E-4355-80DD-5E3DDBAD53D9}"/>
              </a:ext>
            </a:extLst>
          </p:cNvPr>
          <p:cNvSpPr>
            <a:spLocks noGrp="1"/>
          </p:cNvSpPr>
          <p:nvPr/>
        </p:nvSpPr>
        <p:spPr>
          <a:xfrm>
            <a:off x="638175" y="17240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Personas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6F0E5B8-1336-452B-BB95-A16A1A3BA22E}"/>
              </a:ext>
            </a:extLst>
          </p:cNvPr>
          <p:cNvSpPr>
            <a:spLocks noGrp="1"/>
          </p:cNvSpPr>
          <p:nvPr/>
        </p:nvSpPr>
        <p:spPr>
          <a:xfrm>
            <a:off x="638175" y="2219325"/>
            <a:ext cx="304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Trabajadores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Planta y spot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EPP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Exámenes y cursos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Turnos y asistencia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FEDEE2B-9553-4E68-8F66-07C140D851FF}"/>
              </a:ext>
            </a:extLst>
          </p:cNvPr>
          <p:cNvSpPr>
            <a:spLocks noGrp="1"/>
          </p:cNvSpPr>
          <p:nvPr/>
        </p:nvSpPr>
        <p:spPr>
          <a:xfrm>
            <a:off x="4200525" y="1485900"/>
            <a:ext cx="3562350" cy="20574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ACE290-0FE0-4F4B-A36D-7797704BEE57}"/>
              </a:ext>
            </a:extLst>
          </p:cNvPr>
          <p:cNvSpPr>
            <a:spLocks noGrp="1"/>
          </p:cNvSpPr>
          <p:nvPr/>
        </p:nvSpPr>
        <p:spPr>
          <a:xfrm>
            <a:off x="4438650" y="17240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Operación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C21489A-07D5-423B-B73F-9F3D4203194D}"/>
              </a:ext>
            </a:extLst>
          </p:cNvPr>
          <p:cNvSpPr>
            <a:spLocks noGrp="1"/>
          </p:cNvSpPr>
          <p:nvPr/>
        </p:nvSpPr>
        <p:spPr>
          <a:xfrm>
            <a:off x="4438650" y="2219325"/>
            <a:ext cx="304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Mandantes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Contratos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Proyectos y servicios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Permisos de trabajo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Hotelería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AB32841-5354-464F-AA91-17F11172B18E}"/>
              </a:ext>
            </a:extLst>
          </p:cNvPr>
          <p:cNvSpPr>
            <a:spLocks noGrp="1"/>
          </p:cNvSpPr>
          <p:nvPr/>
        </p:nvSpPr>
        <p:spPr>
          <a:xfrm>
            <a:off x="8001000" y="1485900"/>
            <a:ext cx="3562350" cy="20574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7531C2-5C3C-4BD6-87B1-4AD7AA8AE216}"/>
              </a:ext>
            </a:extLst>
          </p:cNvPr>
          <p:cNvSpPr>
            <a:spLocks noGrp="1"/>
          </p:cNvSpPr>
          <p:nvPr/>
        </p:nvSpPr>
        <p:spPr>
          <a:xfrm>
            <a:off x="8239125" y="17240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Activos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82BEE7E-D7DB-4DFE-8D73-E291F4193EAF}"/>
              </a:ext>
            </a:extLst>
          </p:cNvPr>
          <p:cNvSpPr>
            <a:spLocks noGrp="1"/>
          </p:cNvSpPr>
          <p:nvPr/>
        </p:nvSpPr>
        <p:spPr>
          <a:xfrm>
            <a:off x="8239125" y="2219325"/>
            <a:ext cx="304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Vehículos y equipos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Credenciales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Operadores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Mantenciones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Vencimientos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379123-9014-4F5D-86C7-B3EBDCB589F3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3562350" cy="20574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D9B9FF0-C6CD-4A6D-8DD6-28E0637FE3E3}"/>
              </a:ext>
            </a:extLst>
          </p:cNvPr>
          <p:cNvSpPr>
            <a:spLocks noGrp="1"/>
          </p:cNvSpPr>
          <p:nvPr/>
        </p:nvSpPr>
        <p:spPr>
          <a:xfrm>
            <a:off x="638175" y="40481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Cumplimiento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9197FE4-3AE0-442B-BCE4-47C30A11E439}"/>
              </a:ext>
            </a:extLst>
          </p:cNvPr>
          <p:cNvSpPr>
            <a:spLocks noGrp="1"/>
          </p:cNvSpPr>
          <p:nvPr/>
        </p:nvSpPr>
        <p:spPr>
          <a:xfrm>
            <a:off x="638175" y="4543425"/>
            <a:ext cx="304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Auditoría documental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Acreditación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Subcontratos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Incidentes y NC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Protocolos de salud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D8FB5CE-862E-44A5-AEAD-923AFAB5EFEB}"/>
              </a:ext>
            </a:extLst>
          </p:cNvPr>
          <p:cNvSpPr>
            <a:spLocks noGrp="1"/>
          </p:cNvSpPr>
          <p:nvPr/>
        </p:nvSpPr>
        <p:spPr>
          <a:xfrm>
            <a:off x="4200525" y="3810000"/>
            <a:ext cx="3562350" cy="20574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1C7EC83-C43A-49C7-9B0A-3467911EC743}"/>
              </a:ext>
            </a:extLst>
          </p:cNvPr>
          <p:cNvSpPr>
            <a:spLocks noGrp="1"/>
          </p:cNvSpPr>
          <p:nvPr/>
        </p:nvSpPr>
        <p:spPr>
          <a:xfrm>
            <a:off x="4438650" y="40481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Gestión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ED2911F-CBA9-4253-AEDF-CF9EE9903C37}"/>
              </a:ext>
            </a:extLst>
          </p:cNvPr>
          <p:cNvSpPr>
            <a:spLocks noGrp="1"/>
          </p:cNvSpPr>
          <p:nvPr/>
        </p:nvSpPr>
        <p:spPr>
          <a:xfrm>
            <a:off x="4438650" y="4543425"/>
            <a:ext cx="304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Dashboard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Alertas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Reportes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Importación masiva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Bitácora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7D3C080-0B36-4911-BE49-076839E0D225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562350" cy="205740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66A1A22-7B9A-496C-B37C-F4EB3D4A430C}"/>
              </a:ext>
            </a:extLst>
          </p:cNvPr>
          <p:cNvSpPr>
            <a:spLocks noGrp="1"/>
          </p:cNvSpPr>
          <p:nvPr/>
        </p:nvSpPr>
        <p:spPr>
          <a:xfrm>
            <a:off x="8239125" y="40481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Conexión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CA220F6-4719-4996-B4E5-A0B943D1E843}"/>
              </a:ext>
            </a:extLst>
          </p:cNvPr>
          <p:cNvSpPr>
            <a:spLocks noGrp="1"/>
          </p:cNvSpPr>
          <p:nvPr/>
        </p:nvSpPr>
        <p:spPr>
          <a:xfrm>
            <a:off x="8239125" y="4543425"/>
            <a:ext cx="304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WhatsApp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Correo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Firma electrónica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Portal mandante</a:t>
            </a:r>
          </a:p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Integraciones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EAFFB61-658C-4951-A33F-A59FD3D2457C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4240726-EF43-4403-98AB-16A6D74D3DC4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03C3298-81F5-4D7E-9998-30D91D243827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253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3E2B11AD-E9AA-430C-88F2-42758BDAD95A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E0793D-8C8E-41D0-9306-D6693F616E7F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01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Los beneficios aparecen en la coordinación diaria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D308174-19C5-4660-9866-A45573D0DC72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3562350" cy="19240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9F60AF2-8B3E-4E00-9207-6DAF652C8E7F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3562350" cy="66675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656DB7C-A2CA-49BF-A96A-9889391D67C2}"/>
              </a:ext>
            </a:extLst>
          </p:cNvPr>
          <p:cNvSpPr>
            <a:spLocks noGrp="1"/>
          </p:cNvSpPr>
          <p:nvPr/>
        </p:nvSpPr>
        <p:spPr>
          <a:xfrm>
            <a:off x="628650" y="176212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Menos reproceso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39DD838-5AD2-4800-A522-7699E18E2B98}"/>
              </a:ext>
            </a:extLst>
          </p:cNvPr>
          <p:cNvSpPr>
            <a:spLocks noGrp="1"/>
          </p:cNvSpPr>
          <p:nvPr/>
        </p:nvSpPr>
        <p:spPr>
          <a:xfrm>
            <a:off x="628650" y="2305050"/>
            <a:ext cx="3105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La información se registra una vez y se reutiliza en cada proceso.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490A96-09DF-46C3-988B-49A155490C48}"/>
              </a:ext>
            </a:extLst>
          </p:cNvPr>
          <p:cNvSpPr>
            <a:spLocks noGrp="1"/>
          </p:cNvSpPr>
          <p:nvPr/>
        </p:nvSpPr>
        <p:spPr>
          <a:xfrm>
            <a:off x="4200525" y="1476375"/>
            <a:ext cx="3562350" cy="19240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72F01E0-0907-4C87-9CA9-F174567FFF59}"/>
              </a:ext>
            </a:extLst>
          </p:cNvPr>
          <p:cNvSpPr>
            <a:spLocks noGrp="1"/>
          </p:cNvSpPr>
          <p:nvPr/>
        </p:nvSpPr>
        <p:spPr>
          <a:xfrm>
            <a:off x="4200525" y="1476375"/>
            <a:ext cx="3562350" cy="666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BCA96AA-6D91-46F2-8635-60E388A97372}"/>
              </a:ext>
            </a:extLst>
          </p:cNvPr>
          <p:cNvSpPr>
            <a:spLocks noGrp="1"/>
          </p:cNvSpPr>
          <p:nvPr/>
        </p:nvSpPr>
        <p:spPr>
          <a:xfrm>
            <a:off x="4429125" y="176212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Más anticipación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BAE6BDA-AA9A-446D-A3F7-C5A1C8D26F23}"/>
              </a:ext>
            </a:extLst>
          </p:cNvPr>
          <p:cNvSpPr>
            <a:spLocks noGrp="1"/>
          </p:cNvSpPr>
          <p:nvPr/>
        </p:nvSpPr>
        <p:spPr>
          <a:xfrm>
            <a:off x="4429125" y="2305050"/>
            <a:ext cx="3105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Las alertas muestran faltantes y vencimientos antes de movilizar personal.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575B5D-904C-4404-9B8B-1D119759A1BF}"/>
              </a:ext>
            </a:extLst>
          </p:cNvPr>
          <p:cNvSpPr>
            <a:spLocks noGrp="1"/>
          </p:cNvSpPr>
          <p:nvPr/>
        </p:nvSpPr>
        <p:spPr>
          <a:xfrm>
            <a:off x="8001000" y="1476375"/>
            <a:ext cx="3562350" cy="19240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990F35-55E6-4E8E-BBC3-CB3E2D30B2AE}"/>
              </a:ext>
            </a:extLst>
          </p:cNvPr>
          <p:cNvSpPr>
            <a:spLocks noGrp="1"/>
          </p:cNvSpPr>
          <p:nvPr/>
        </p:nvSpPr>
        <p:spPr>
          <a:xfrm>
            <a:off x="8001000" y="1476375"/>
            <a:ext cx="3562350" cy="666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A6BA9DB-4E84-4B31-8424-6052E47CB4F3}"/>
              </a:ext>
            </a:extLst>
          </p:cNvPr>
          <p:cNvSpPr>
            <a:spLocks noGrp="1"/>
          </p:cNvSpPr>
          <p:nvPr/>
        </p:nvSpPr>
        <p:spPr>
          <a:xfrm>
            <a:off x="8229600" y="176212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Mejor respuesta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E11DFDC-CEF9-4D8D-BE01-5EA0E30FD375}"/>
              </a:ext>
            </a:extLst>
          </p:cNvPr>
          <p:cNvSpPr>
            <a:spLocks noGrp="1"/>
          </p:cNvSpPr>
          <p:nvPr/>
        </p:nvSpPr>
        <p:spPr>
          <a:xfrm>
            <a:off x="8229600" y="2305050"/>
            <a:ext cx="3105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La empresa encuentra rápidamente personas, documentos y responsables.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627E9F6-D62A-4476-95C3-2C185A7D46CA}"/>
              </a:ext>
            </a:extLst>
          </p:cNvPr>
          <p:cNvSpPr>
            <a:spLocks noGrp="1"/>
          </p:cNvSpPr>
          <p:nvPr/>
        </p:nvSpPr>
        <p:spPr>
          <a:xfrm>
            <a:off x="400050" y="3667125"/>
            <a:ext cx="3562350" cy="19240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B314311-F228-4F62-A780-E52E998A5586}"/>
              </a:ext>
            </a:extLst>
          </p:cNvPr>
          <p:cNvSpPr>
            <a:spLocks noGrp="1"/>
          </p:cNvSpPr>
          <p:nvPr/>
        </p:nvSpPr>
        <p:spPr>
          <a:xfrm>
            <a:off x="400050" y="3667125"/>
            <a:ext cx="3562350" cy="666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FC6F3BF-F8B2-4E3B-8959-D6A2E8A17AC6}"/>
              </a:ext>
            </a:extLst>
          </p:cNvPr>
          <p:cNvSpPr>
            <a:spLocks noGrp="1"/>
          </p:cNvSpPr>
          <p:nvPr/>
        </p:nvSpPr>
        <p:spPr>
          <a:xfrm>
            <a:off x="628650" y="395287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Mayor trazabilidad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C4712A9-8050-42DC-9C2E-55E8C3E3D3C3}"/>
              </a:ext>
            </a:extLst>
          </p:cNvPr>
          <p:cNvSpPr>
            <a:spLocks noGrp="1"/>
          </p:cNvSpPr>
          <p:nvPr/>
        </p:nvSpPr>
        <p:spPr>
          <a:xfrm>
            <a:off x="628650" y="4495800"/>
            <a:ext cx="3105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Cada revisión y cambio conserva fecha, estado y contexto.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C239837-23C6-4238-B165-8D0F40F647EA}"/>
              </a:ext>
            </a:extLst>
          </p:cNvPr>
          <p:cNvSpPr>
            <a:spLocks noGrp="1"/>
          </p:cNvSpPr>
          <p:nvPr/>
        </p:nvSpPr>
        <p:spPr>
          <a:xfrm>
            <a:off x="4200525" y="3667125"/>
            <a:ext cx="3562350" cy="19240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37C1471-73C7-40F7-8BD6-009C488D9224}"/>
              </a:ext>
            </a:extLst>
          </p:cNvPr>
          <p:cNvSpPr>
            <a:spLocks noGrp="1"/>
          </p:cNvSpPr>
          <p:nvPr/>
        </p:nvSpPr>
        <p:spPr>
          <a:xfrm>
            <a:off x="4200525" y="3667125"/>
            <a:ext cx="3562350" cy="666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363CFA5-2950-41C2-BC59-A7D60A8A0534}"/>
              </a:ext>
            </a:extLst>
          </p:cNvPr>
          <p:cNvSpPr>
            <a:spLocks noGrp="1"/>
          </p:cNvSpPr>
          <p:nvPr/>
        </p:nvSpPr>
        <p:spPr>
          <a:xfrm>
            <a:off x="4429125" y="395287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Experiencia simple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B90588E-F2C2-4363-918E-77C8853D4D94}"/>
              </a:ext>
            </a:extLst>
          </p:cNvPr>
          <p:cNvSpPr>
            <a:spLocks noGrp="1"/>
          </p:cNvSpPr>
          <p:nvPr/>
        </p:nvSpPr>
        <p:spPr>
          <a:xfrm>
            <a:off x="4429125" y="4495800"/>
            <a:ext cx="3105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Filtros, fichas y formularios organizan tareas complejas.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693532A-4541-40D7-8BA8-357989AE0840}"/>
              </a:ext>
            </a:extLst>
          </p:cNvPr>
          <p:cNvSpPr>
            <a:spLocks noGrp="1"/>
          </p:cNvSpPr>
          <p:nvPr/>
        </p:nvSpPr>
        <p:spPr>
          <a:xfrm>
            <a:off x="8001000" y="3667125"/>
            <a:ext cx="3562350" cy="1924050"/>
          </a:xfrm>
          <a:prstGeom prst="rect">
            <a:avLst/>
          </a:prstGeom>
          <a:solidFill>
            <a:srgbClr val="EFEFE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D49FC6D-738A-4CA9-93CB-9EFB4F2C5C54}"/>
              </a:ext>
            </a:extLst>
          </p:cNvPr>
          <p:cNvSpPr>
            <a:spLocks noGrp="1"/>
          </p:cNvSpPr>
          <p:nvPr/>
        </p:nvSpPr>
        <p:spPr>
          <a:xfrm>
            <a:off x="8001000" y="3667125"/>
            <a:ext cx="3562350" cy="6667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DED7F04-05A7-44B1-8D01-42642412297F}"/>
              </a:ext>
            </a:extLst>
          </p:cNvPr>
          <p:cNvSpPr>
            <a:spLocks noGrp="1"/>
          </p:cNvSpPr>
          <p:nvPr/>
        </p:nvSpPr>
        <p:spPr>
          <a:xfrm>
            <a:off x="8229600" y="395287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Escala comercial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1783F7E-5339-43B7-AD17-51020C3C3FD9}"/>
              </a:ext>
            </a:extLst>
          </p:cNvPr>
          <p:cNvSpPr>
            <a:spLocks noGrp="1"/>
          </p:cNvSpPr>
          <p:nvPr/>
        </p:nvSpPr>
        <p:spPr>
          <a:xfrm>
            <a:off x="8229600" y="4495800"/>
            <a:ext cx="3105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Cada cliente mantiene su propia marca, permisos y configuración.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E51666B-9511-4E22-AEE7-E5A1D7EB58D9}"/>
              </a:ext>
            </a:extLst>
          </p:cNvPr>
          <p:cNvSpPr>
            <a:spLocks noGrp="1"/>
          </p:cNvSpPr>
          <p:nvPr/>
        </p:nvSpPr>
        <p:spPr>
          <a:xfrm>
            <a:off x="400050" y="6372225"/>
            <a:ext cx="11391900" cy="9525"/>
          </a:xfrm>
          <a:prstGeom prst="rect">
            <a:avLst/>
          </a:prstGeom>
          <a:solidFill>
            <a:srgbClr val="C9C9C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945365D-A1E4-43DB-9940-40B72742C44D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DOMIAN · Operia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19E2CB7-581D-48DC-8365-F1638F1133B9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5314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B9FE80EA-824F-4DF1-9F0E-F06AC4FF8BC6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47A2A"/>
                </a:solidFill>
              </a:defRPr>
            </a:pPr>
            <a:r>
              <a:rPr sz="1125" b="1">
                <a:solidFill>
                  <a:srgbClr val="F47A2A"/>
                </a:solidFill>
              </a:rPr>
              <a:t>OPERIA BY DOMIAN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93E381A-AC39-4702-B8DE-E8069A533163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6762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Una operación conectada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se controla mejor.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F95460E-7BB6-4D0A-AABE-8B8C83152A80}"/>
              </a:ext>
            </a:extLst>
          </p:cNvPr>
          <p:cNvSpPr>
            <a:spLocks noGrp="1"/>
          </p:cNvSpPr>
          <p:nvPr/>
        </p:nvSpPr>
        <p:spPr>
          <a:xfrm>
            <a:off x="400050" y="3000375"/>
            <a:ext cx="619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CFCFCF"/>
                </a:solidFill>
              </a:defRPr>
            </a:pPr>
            <a:r>
              <a:rPr sz="1725" b="0">
                <a:solidFill>
                  <a:srgbClr val="CFCFCF"/>
                </a:solidFill>
              </a:rPr>
              <a:t>Implementación adaptable por empresa, módulos y permisos.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84EFA2-3087-4B15-8DCA-C0AA2F3E18E1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048000" cy="1238250"/>
          </a:xfrm>
          <a:prstGeom prst="rect">
            <a:avLst/>
          </a:prstGeom>
          <a:solidFill>
            <a:srgbClr val="252525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F53888A-01D2-45C9-9A59-E0C273AF3897}"/>
              </a:ext>
            </a:extLst>
          </p:cNvPr>
          <p:cNvSpPr>
            <a:spLocks noGrp="1"/>
          </p:cNvSpPr>
          <p:nvPr/>
        </p:nvSpPr>
        <p:spPr>
          <a:xfrm>
            <a:off x="619125" y="43053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BDBDBD"/>
                </a:solidFill>
              </a:defRPr>
            </a:pPr>
            <a:r>
              <a:rPr sz="1275" b="1">
                <a:solidFill>
                  <a:srgbClr val="BDBDBD"/>
                </a:solidFill>
              </a:rPr>
              <a:t>Implementación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5A266E-DDEE-42C9-8CA4-34AAE3766D57}"/>
              </a:ext>
            </a:extLst>
          </p:cNvPr>
          <p:cNvSpPr>
            <a:spLocks noGrp="1"/>
          </p:cNvSpPr>
          <p:nvPr/>
        </p:nvSpPr>
        <p:spPr>
          <a:xfrm>
            <a:off x="619125" y="468630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$ 0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73167AE-79AF-4B0B-BD5F-684B47794537}"/>
              </a:ext>
            </a:extLst>
          </p:cNvPr>
          <p:cNvSpPr>
            <a:spLocks noGrp="1"/>
          </p:cNvSpPr>
          <p:nvPr/>
        </p:nvSpPr>
        <p:spPr>
          <a:xfrm>
            <a:off x="3638550" y="4095750"/>
            <a:ext cx="3048000" cy="1238250"/>
          </a:xfrm>
          <a:prstGeom prst="rect">
            <a:avLst/>
          </a:prstGeom>
          <a:solidFill>
            <a:srgbClr val="252525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9BD96A0-9E8F-41C5-944A-1A034228844D}"/>
              </a:ext>
            </a:extLst>
          </p:cNvPr>
          <p:cNvSpPr>
            <a:spLocks noGrp="1"/>
          </p:cNvSpPr>
          <p:nvPr/>
        </p:nvSpPr>
        <p:spPr>
          <a:xfrm>
            <a:off x="3857625" y="43053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BDBDBD"/>
                </a:solidFill>
              </a:defRPr>
            </a:pPr>
            <a:r>
              <a:rPr sz="1275" b="1">
                <a:solidFill>
                  <a:srgbClr val="BDBDBD"/>
                </a:solidFill>
              </a:rPr>
              <a:t>Licencia mensual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8ED7443-2B6A-4888-A5E4-0062F517017E}"/>
              </a:ext>
            </a:extLst>
          </p:cNvPr>
          <p:cNvSpPr>
            <a:spLocks noGrp="1"/>
          </p:cNvSpPr>
          <p:nvPr/>
        </p:nvSpPr>
        <p:spPr>
          <a:xfrm>
            <a:off x="3857625" y="468630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$ 0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BF5ECB1-8D7A-4C50-A3DE-108F990B5983}"/>
              </a:ext>
            </a:extLst>
          </p:cNvPr>
          <p:cNvSpPr>
            <a:spLocks noGrp="1"/>
          </p:cNvSpPr>
          <p:nvPr/>
        </p:nvSpPr>
        <p:spPr>
          <a:xfrm>
            <a:off x="6877050" y="4095750"/>
            <a:ext cx="3048000" cy="1238250"/>
          </a:xfrm>
          <a:prstGeom prst="rect">
            <a:avLst/>
          </a:prstGeom>
          <a:solidFill>
            <a:srgbClr val="252525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9DE4A1D-18E7-4611-BA14-114E3E0DAE0E}"/>
              </a:ext>
            </a:extLst>
          </p:cNvPr>
          <p:cNvSpPr>
            <a:spLocks noGrp="1"/>
          </p:cNvSpPr>
          <p:nvPr/>
        </p:nvSpPr>
        <p:spPr>
          <a:xfrm>
            <a:off x="7096125" y="43053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BDBDBD"/>
                </a:solidFill>
              </a:defRPr>
            </a:pPr>
            <a:r>
              <a:rPr sz="1275" b="1">
                <a:solidFill>
                  <a:srgbClr val="BDBDBD"/>
                </a:solidFill>
              </a:rPr>
              <a:t>Configuración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55738DF-F220-4A15-AF31-A9BBB6376CAC}"/>
              </a:ext>
            </a:extLst>
          </p:cNvPr>
          <p:cNvSpPr>
            <a:spLocks noGrp="1"/>
          </p:cNvSpPr>
          <p:nvPr/>
        </p:nvSpPr>
        <p:spPr>
          <a:xfrm>
            <a:off x="7096125" y="468630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$ 0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09DEC6D-D12F-4A5C-A9FF-AA744AFF3690}"/>
              </a:ext>
            </a:extLst>
          </p:cNvPr>
          <p:cNvSpPr>
            <a:spLocks noGrp="1"/>
          </p:cNvSpPr>
          <p:nvPr/>
        </p:nvSpPr>
        <p:spPr>
          <a:xfrm>
            <a:off x="10191750" y="1362075"/>
            <a:ext cx="1600200" cy="3971925"/>
          </a:xfrm>
          <a:prstGeom prst="rect">
            <a:avLst/>
          </a:prstGeom>
          <a:solidFill>
            <a:srgbClr val="F47A2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11B84D4-554B-484E-8359-96712249CE62}"/>
              </a:ext>
            </a:extLst>
          </p:cNvPr>
          <p:cNvSpPr>
            <a:spLocks noGrp="1"/>
          </p:cNvSpPr>
          <p:nvPr/>
        </p:nvSpPr>
        <p:spPr>
          <a:xfrm>
            <a:off x="10401300" y="1695450"/>
            <a:ext cx="1190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Próximo</a:t>
            </a:r>
          </a:p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paso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8AC241-EF0F-4A8B-B3F6-1D18C8D5361D}"/>
              </a:ext>
            </a:extLst>
          </p:cNvPr>
          <p:cNvSpPr>
            <a:spLocks noGrp="1"/>
          </p:cNvSpPr>
          <p:nvPr/>
        </p:nvSpPr>
        <p:spPr>
          <a:xfrm>
            <a:off x="10401300" y="2800350"/>
            <a:ext cx="1190625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Revisar módulos</a:t>
            </a:r>
          </a:p>
          <a:p>
            <a:endParaRPr sz="1275" b="0">
              <a:solidFill>
                <a:srgbClr val="FFFFFF"/>
              </a:solidFill>
            </a:endParaRP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Configurar empresa</a:t>
            </a:r>
          </a:p>
          <a:p>
            <a:endParaRPr sz="1275" b="0">
              <a:solidFill>
                <a:srgbClr val="FFFFFF"/>
              </a:solidFill>
            </a:endParaRP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Cargar datos</a:t>
            </a:r>
          </a:p>
          <a:p>
            <a:endParaRPr sz="1275" b="0">
              <a:solidFill>
                <a:srgbClr val="FFFFFF"/>
              </a:solidFill>
            </a:endParaRP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Iniciar piloto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3ECDBF8-B5CF-4A89-A61D-F1EE5189C565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contacto@domian.cl  ·  +56 9 7649 0489  ·  www.domian.cl</a:t>
            </a:r>
          </a:p>
        </p:txBody>
      </p:sp>
    </p:spTree>
    <p:extLst>
      <p:ext uri="{BB962C8B-B14F-4D97-AF65-F5344CB8AC3E}">
        <p14:creationId xmlns:p14="http://schemas.microsoft.com/office/powerpoint/2010/main" val="2008932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6953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Macintosh PowerPoint</Application>
  <DocSecurity>0</DocSecurity>
  <PresentationFormat>Panorámica</PresentationFormat>
  <Paragraphs>195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1</cp:revision>
  <dcterms:created xsi:type="dcterms:W3CDTF">2026-07-04T13:44:09Z</dcterms:created>
  <dcterms:modified xsi:type="dcterms:W3CDTF">2026-07-04T13:48:26Z</dcterms:modified>
</cp:coreProperties>
</file>